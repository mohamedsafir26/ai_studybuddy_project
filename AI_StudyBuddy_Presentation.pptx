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63283"/>
          </a:solidFill>
          <a:ln w="12700">
            <a:solidFill>
              <a:srgbClr val="263283"/>
            </a:solidFill>
            <a:prstDash val="solid"/>
          </a:ln>
        </p:spPr>
      </p:sp>
      <p:sp>
        <p:nvSpPr>
          <p:cNvPr id="3" name="Shape 1"/>
          <p:cNvSpPr/>
          <p:nvPr/>
        </p:nvSpPr>
        <p:spPr>
          <a:xfrm>
            <a:off x="-1645920" y="4754880"/>
            <a:ext cx="3840480" cy="3840480"/>
          </a:xfrm>
          <a:prstGeom prst="ellipse">
            <a:avLst/>
          </a:prstGeom>
          <a:solidFill>
            <a:srgbClr val="263283"/>
          </a:solidFill>
          <a:ln w="12700">
            <a:solidFill>
              <a:srgbClr val="263283"/>
            </a:solidFill>
            <a:prstDash val="solid"/>
          </a:ln>
        </p:spPr>
      </p:sp>
      <p:sp>
        <p:nvSpPr>
          <p:cNvPr id="4" name="Text 2"/>
          <p:cNvSpPr txBox="1"/>
          <p:nvPr/>
        </p:nvSpPr>
        <p:spPr>
          <a:xfrm>
            <a:off x="822960" y="1965960"/>
            <a:ext cx="10515600" cy="1005840"/>
          </a:xfrm>
          <a:prstGeom prst="rect">
            <a:avLst/>
          </a:prstGeom>
          <a:noFill/>
          <a:ln/>
        </p:spPr>
        <p:txBody>
          <a:bodyPr wrap="square" lIns="0" tIns="0" rIns="0" bIns="0" rtlCol="0" anchor="ctr"/>
          <a:lstStyle/>
          <a:p>
            <a:pPr indent="0" marL="0">
              <a:buNone/>
            </a:pPr>
            <a:r>
              <a:rPr lang="en-US" sz="4600" b="1" spc="200" kern="0" dirty="0">
                <a:solidFill>
                  <a:srgbClr val="FFFFFF"/>
                </a:solidFill>
                <a:latin typeface="Cambria" pitchFamily="34" charset="0"/>
                <a:ea typeface="Cambria" pitchFamily="34" charset="-122"/>
                <a:cs typeface="Cambria" pitchFamily="34" charset="-120"/>
              </a:rPr>
              <a:t>AI STUDYBUDDY</a:t>
            </a:r>
            <a:endParaRPr lang="en-US" sz="4600" dirty="0"/>
          </a:p>
        </p:txBody>
      </p:sp>
      <p:sp>
        <p:nvSpPr>
          <p:cNvPr id="5" name="Shape 3"/>
          <p:cNvSpPr/>
          <p:nvPr/>
        </p:nvSpPr>
        <p:spPr>
          <a:xfrm>
            <a:off x="868680" y="2907792"/>
            <a:ext cx="1188720" cy="41148"/>
          </a:xfrm>
          <a:prstGeom prst="rect">
            <a:avLst/>
          </a:prstGeom>
          <a:solidFill>
            <a:srgbClr val="1FAE8C"/>
          </a:solidFill>
          <a:ln w="12700">
            <a:solidFill>
              <a:srgbClr val="1FAE8C"/>
            </a:solidFill>
            <a:prstDash val="solid"/>
          </a:ln>
        </p:spPr>
      </p:sp>
      <p:sp>
        <p:nvSpPr>
          <p:cNvPr id="6" name="Text 4"/>
          <p:cNvSpPr txBox="1"/>
          <p:nvPr/>
        </p:nvSpPr>
        <p:spPr>
          <a:xfrm>
            <a:off x="822960" y="3063240"/>
            <a:ext cx="1033272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AI-Powered Learning Assistant for Smarter Studying</a:t>
            </a:r>
            <a:endParaRPr lang="en-US" sz="1800" dirty="0"/>
          </a:p>
        </p:txBody>
      </p:sp>
      <p:sp>
        <p:nvSpPr>
          <p:cNvPr id="7" name="Text 5"/>
          <p:cNvSpPr txBox="1"/>
          <p:nvPr/>
        </p:nvSpPr>
        <p:spPr>
          <a:xfrm>
            <a:off x="822960" y="4160520"/>
            <a:ext cx="3657600" cy="274320"/>
          </a:xfrm>
          <a:prstGeom prst="rect">
            <a:avLst/>
          </a:prstGeom>
          <a:noFill/>
          <a:ln/>
        </p:spPr>
        <p:txBody>
          <a:bodyPr wrap="square" lIns="0" tIns="0" rIns="0" bIns="0" rtlCol="0" anchor="ctr"/>
          <a:lstStyle/>
          <a:p>
            <a:pPr indent="0" marL="0">
              <a:buNone/>
            </a:pPr>
            <a:r>
              <a:rPr lang="en-US" sz="1100" b="1" spc="100" kern="0" dirty="0">
                <a:solidFill>
                  <a:srgbClr val="1FAE8C"/>
                </a:solidFill>
                <a:latin typeface="Calibri" pitchFamily="34" charset="0"/>
                <a:ea typeface="Calibri" pitchFamily="34" charset="-122"/>
                <a:cs typeface="Calibri" pitchFamily="34" charset="-120"/>
              </a:rPr>
              <a:t>TEAM LEADER</a:t>
            </a:r>
            <a:endParaRPr lang="en-US" sz="1100" dirty="0"/>
          </a:p>
        </p:txBody>
      </p:sp>
      <p:sp>
        <p:nvSpPr>
          <p:cNvPr id="8" name="Text 6"/>
          <p:cNvSpPr txBox="1"/>
          <p:nvPr/>
        </p:nvSpPr>
        <p:spPr>
          <a:xfrm>
            <a:off x="822960" y="4434840"/>
            <a:ext cx="54864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Kishore T</a:t>
            </a:r>
            <a:endParaRPr lang="en-US" sz="2000" dirty="0"/>
          </a:p>
        </p:txBody>
      </p:sp>
      <p:sp>
        <p:nvSpPr>
          <p:cNvPr id="9" name="Text 7"/>
          <p:cNvSpPr txBox="1"/>
          <p:nvPr/>
        </p:nvSpPr>
        <p:spPr>
          <a:xfrm>
            <a:off x="822960" y="5029200"/>
            <a:ext cx="3657600" cy="274320"/>
          </a:xfrm>
          <a:prstGeom prst="rect">
            <a:avLst/>
          </a:prstGeom>
          <a:noFill/>
          <a:ln/>
        </p:spPr>
        <p:txBody>
          <a:bodyPr wrap="square" lIns="0" tIns="0" rIns="0" bIns="0" rtlCol="0" anchor="ctr"/>
          <a:lstStyle/>
          <a:p>
            <a:pPr indent="0" marL="0">
              <a:buNone/>
            </a:pPr>
            <a:r>
              <a:rPr lang="en-US" sz="1100" b="1" spc="100" kern="0" dirty="0">
                <a:solidFill>
                  <a:srgbClr val="1FAE8C"/>
                </a:solidFill>
                <a:latin typeface="Calibri" pitchFamily="34" charset="0"/>
                <a:ea typeface="Calibri" pitchFamily="34" charset="-122"/>
                <a:cs typeface="Calibri" pitchFamily="34" charset="-120"/>
              </a:rPr>
              <a:t>TEAM MEMBERS</a:t>
            </a:r>
            <a:endParaRPr lang="en-US" sz="1100" dirty="0"/>
          </a:p>
        </p:txBody>
      </p:sp>
      <p:sp>
        <p:nvSpPr>
          <p:cNvPr id="10" name="Text 8"/>
          <p:cNvSpPr txBox="1"/>
          <p:nvPr/>
        </p:nvSpPr>
        <p:spPr>
          <a:xfrm>
            <a:off x="822960" y="5303520"/>
            <a:ext cx="1033272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Logeshwaran D      Manikandan M      Mohamed Safir 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Project Overview</a:t>
            </a:r>
            <a:endParaRPr lang="en-US" sz="3000" dirty="0"/>
          </a:p>
        </p:txBody>
      </p:sp>
      <p:sp>
        <p:nvSpPr>
          <p:cNvPr id="4" name="Text 2"/>
          <p:cNvSpPr txBox="1"/>
          <p:nvPr/>
        </p:nvSpPr>
        <p:spPr>
          <a:xfrm>
            <a:off x="457200" y="1371600"/>
            <a:ext cx="11247120" cy="1051560"/>
          </a:xfrm>
          <a:prstGeom prst="rect">
            <a:avLst/>
          </a:prstGeom>
          <a:noFill/>
          <a:ln/>
        </p:spPr>
        <p:txBody>
          <a:bodyPr wrap="square" lIns="0" tIns="0" rIns="0" bIns="0" rtlCol="0" anchor="ctr"/>
          <a:lstStyle/>
          <a:p>
            <a:pPr indent="0" marL="0">
              <a:lnSpc>
                <a:spcPct val="118000"/>
              </a:lnSpc>
              <a:buNone/>
            </a:pPr>
            <a:r>
              <a:rPr lang="en-US" sz="1550" dirty="0">
                <a:solidFill>
                  <a:srgbClr val="33384A"/>
                </a:solidFill>
                <a:latin typeface="Calibri" pitchFamily="34" charset="0"/>
                <a:ea typeface="Calibri" pitchFamily="34" charset="-122"/>
                <a:cs typeface="Calibri" pitchFamily="34" charset="-120"/>
              </a:rPr>
              <a:t>AI StudyBuddy is an AI-powered learning assistance platform that helps students turn scattered study material into ready-to-use revision resources. Students upload notes or textbook content, and the backend automatically generates concise summaries, flashcards, quizzes and personalized study plans.</a:t>
            </a:r>
            <a:endParaRPr lang="en-US" sz="1550" dirty="0"/>
          </a:p>
        </p:txBody>
      </p:sp>
      <p:sp>
        <p:nvSpPr>
          <p:cNvPr id="5" name="Text 3"/>
          <p:cNvSpPr txBox="1"/>
          <p:nvPr/>
        </p:nvSpPr>
        <p:spPr>
          <a:xfrm>
            <a:off x="457200" y="2514600"/>
            <a:ext cx="11247120" cy="960120"/>
          </a:xfrm>
          <a:prstGeom prst="rect">
            <a:avLst/>
          </a:prstGeom>
          <a:noFill/>
          <a:ln/>
        </p:spPr>
        <p:txBody>
          <a:bodyPr wrap="square" lIns="0" tIns="0" rIns="0" bIns="0" rtlCol="0" anchor="ctr"/>
          <a:lstStyle/>
          <a:p>
            <a:pPr indent="0" marL="0">
              <a:lnSpc>
                <a:spcPct val="118000"/>
              </a:lnSpc>
              <a:buNone/>
            </a:pPr>
            <a:r>
              <a:rPr lang="en-US" sz="1550" dirty="0">
                <a:solidFill>
                  <a:srgbClr val="33384A"/>
                </a:solidFill>
                <a:latin typeface="Calibri" pitchFamily="34" charset="0"/>
                <a:ea typeface="Calibri" pitchFamily="34" charset="-122"/>
                <a:cs typeface="Calibri" pitchFamily="34" charset="-120"/>
              </a:rPr>
              <a:t>The system is built as a secure, modular REST API. Every request is authenticated with JWT, and all AI content generation is delegated to the Google Gemini API instead of relying on fixed templates — so the output adapts to whatever the student actually uploads.</a:t>
            </a:r>
            <a:endParaRPr lang="en-US" sz="1550" dirty="0"/>
          </a:p>
        </p:txBody>
      </p:sp>
      <p:sp>
        <p:nvSpPr>
          <p:cNvPr id="6" name="Text 4"/>
          <p:cNvSpPr txBox="1"/>
          <p:nvPr/>
        </p:nvSpPr>
        <p:spPr>
          <a:xfrm>
            <a:off x="457200" y="3703320"/>
            <a:ext cx="4572000" cy="292608"/>
          </a:xfrm>
          <a:prstGeom prst="rect">
            <a:avLst/>
          </a:prstGeom>
          <a:noFill/>
          <a:ln/>
        </p:spPr>
        <p:txBody>
          <a:bodyPr wrap="square" lIns="0" tIns="0" rIns="0" bIns="0" rtlCol="0" anchor="ctr"/>
          <a:lstStyle/>
          <a:p>
            <a:pPr algn="l" indent="0" marL="0">
              <a:buNone/>
            </a:pPr>
            <a:r>
              <a:rPr lang="en-US" sz="1250" b="1" dirty="0">
                <a:solidFill>
                  <a:srgbClr val="8A8FA3"/>
                </a:solidFill>
                <a:latin typeface="Calibri" pitchFamily="34" charset="0"/>
                <a:ea typeface="Calibri" pitchFamily="34" charset="-122"/>
                <a:cs typeface="Calibri" pitchFamily="34" charset="-120"/>
              </a:rPr>
              <a:t>TECHNOLOGY STACK</a:t>
            </a:r>
            <a:endParaRPr lang="en-US" sz="1250" dirty="0"/>
          </a:p>
        </p:txBody>
      </p:sp>
      <p:sp>
        <p:nvSpPr>
          <p:cNvPr id="7" name="Shape 5"/>
          <p:cNvSpPr/>
          <p:nvPr/>
        </p:nvSpPr>
        <p:spPr>
          <a:xfrm>
            <a:off x="457200" y="4023360"/>
            <a:ext cx="2660904" cy="566928"/>
          </a:xfrm>
          <a:prstGeom prst="roundRect">
            <a:avLst>
              <a:gd name="adj" fmla="val 14516"/>
            </a:avLst>
          </a:prstGeom>
          <a:solidFill>
            <a:srgbClr val="F4F6FB"/>
          </a:solidFill>
          <a:ln w="9525">
            <a:solidFill>
              <a:srgbClr val="DCE1EE"/>
            </a:solidFill>
            <a:prstDash val="solid"/>
          </a:ln>
        </p:spPr>
      </p:sp>
      <p:sp>
        <p:nvSpPr>
          <p:cNvPr id="8" name="Shape 6"/>
          <p:cNvSpPr/>
          <p:nvPr/>
        </p:nvSpPr>
        <p:spPr>
          <a:xfrm>
            <a:off x="566928" y="4123944"/>
            <a:ext cx="365760" cy="365760"/>
          </a:xfrm>
          <a:prstGeom prst="ellipse">
            <a:avLst/>
          </a:prstGeom>
          <a:solidFill>
            <a:srgbClr val="1E2761"/>
          </a:solidFill>
          <a:ln w="12700">
            <a:solidFill>
              <a:srgbClr val="1E2761"/>
            </a:solidFill>
            <a:prstDash val="solid"/>
          </a:ln>
        </p:spPr>
      </p:sp>
      <p:sp>
        <p:nvSpPr>
          <p:cNvPr id="9" name="Text 7"/>
          <p:cNvSpPr txBox="1"/>
          <p:nvPr/>
        </p:nvSpPr>
        <p:spPr>
          <a:xfrm>
            <a:off x="566928" y="412394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JS</a:t>
            </a:r>
            <a:endParaRPr lang="en-US" sz="900" dirty="0"/>
          </a:p>
        </p:txBody>
      </p:sp>
      <p:sp>
        <p:nvSpPr>
          <p:cNvPr id="10" name="Text 8"/>
          <p:cNvSpPr txBox="1"/>
          <p:nvPr/>
        </p:nvSpPr>
        <p:spPr>
          <a:xfrm>
            <a:off x="1005840" y="4023360"/>
            <a:ext cx="2039112"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Node.js + Express.js</a:t>
            </a:r>
            <a:endParaRPr lang="en-US" sz="1150" dirty="0"/>
          </a:p>
        </p:txBody>
      </p:sp>
      <p:sp>
        <p:nvSpPr>
          <p:cNvPr id="11" name="Shape 9"/>
          <p:cNvSpPr/>
          <p:nvPr/>
        </p:nvSpPr>
        <p:spPr>
          <a:xfrm>
            <a:off x="3319272" y="4023360"/>
            <a:ext cx="2660904" cy="566928"/>
          </a:xfrm>
          <a:prstGeom prst="roundRect">
            <a:avLst>
              <a:gd name="adj" fmla="val 14516"/>
            </a:avLst>
          </a:prstGeom>
          <a:solidFill>
            <a:srgbClr val="F4F6FB"/>
          </a:solidFill>
          <a:ln w="9525">
            <a:solidFill>
              <a:srgbClr val="DCE1EE"/>
            </a:solidFill>
            <a:prstDash val="solid"/>
          </a:ln>
        </p:spPr>
      </p:sp>
      <p:sp>
        <p:nvSpPr>
          <p:cNvPr id="12" name="Shape 10"/>
          <p:cNvSpPr/>
          <p:nvPr/>
        </p:nvSpPr>
        <p:spPr>
          <a:xfrm>
            <a:off x="3429000" y="4123944"/>
            <a:ext cx="365760" cy="365760"/>
          </a:xfrm>
          <a:prstGeom prst="ellipse">
            <a:avLst/>
          </a:prstGeom>
          <a:solidFill>
            <a:srgbClr val="1E2761"/>
          </a:solidFill>
          <a:ln w="12700">
            <a:solidFill>
              <a:srgbClr val="1E2761"/>
            </a:solidFill>
            <a:prstDash val="solid"/>
          </a:ln>
        </p:spPr>
      </p:sp>
      <p:sp>
        <p:nvSpPr>
          <p:cNvPr id="13" name="Text 11"/>
          <p:cNvSpPr txBox="1"/>
          <p:nvPr/>
        </p:nvSpPr>
        <p:spPr>
          <a:xfrm>
            <a:off x="3429000" y="412394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DB</a:t>
            </a:r>
            <a:endParaRPr lang="en-US" sz="900" dirty="0"/>
          </a:p>
        </p:txBody>
      </p:sp>
      <p:sp>
        <p:nvSpPr>
          <p:cNvPr id="14" name="Text 12"/>
          <p:cNvSpPr txBox="1"/>
          <p:nvPr/>
        </p:nvSpPr>
        <p:spPr>
          <a:xfrm>
            <a:off x="3867912" y="4023360"/>
            <a:ext cx="2039112"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MongoDB + Mongoose</a:t>
            </a:r>
            <a:endParaRPr lang="en-US" sz="1150" dirty="0"/>
          </a:p>
        </p:txBody>
      </p:sp>
      <p:sp>
        <p:nvSpPr>
          <p:cNvPr id="15" name="Shape 13"/>
          <p:cNvSpPr/>
          <p:nvPr/>
        </p:nvSpPr>
        <p:spPr>
          <a:xfrm>
            <a:off x="6181344" y="4023360"/>
            <a:ext cx="2660904" cy="566928"/>
          </a:xfrm>
          <a:prstGeom prst="roundRect">
            <a:avLst>
              <a:gd name="adj" fmla="val 14516"/>
            </a:avLst>
          </a:prstGeom>
          <a:solidFill>
            <a:srgbClr val="F4F6FB"/>
          </a:solidFill>
          <a:ln w="9525">
            <a:solidFill>
              <a:srgbClr val="DCE1EE"/>
            </a:solidFill>
            <a:prstDash val="solid"/>
          </a:ln>
        </p:spPr>
      </p:sp>
      <p:sp>
        <p:nvSpPr>
          <p:cNvPr id="16" name="Shape 14"/>
          <p:cNvSpPr/>
          <p:nvPr/>
        </p:nvSpPr>
        <p:spPr>
          <a:xfrm>
            <a:off x="6291072" y="4123944"/>
            <a:ext cx="365760" cy="365760"/>
          </a:xfrm>
          <a:prstGeom prst="ellipse">
            <a:avLst/>
          </a:prstGeom>
          <a:solidFill>
            <a:srgbClr val="1E2761"/>
          </a:solidFill>
          <a:ln w="12700">
            <a:solidFill>
              <a:srgbClr val="1E2761"/>
            </a:solidFill>
            <a:prstDash val="solid"/>
          </a:ln>
        </p:spPr>
      </p:sp>
      <p:sp>
        <p:nvSpPr>
          <p:cNvPr id="17" name="Text 15"/>
          <p:cNvSpPr txBox="1"/>
          <p:nvPr/>
        </p:nvSpPr>
        <p:spPr>
          <a:xfrm>
            <a:off x="6291072" y="412394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JW</a:t>
            </a:r>
            <a:endParaRPr lang="en-US" sz="900" dirty="0"/>
          </a:p>
        </p:txBody>
      </p:sp>
      <p:sp>
        <p:nvSpPr>
          <p:cNvPr id="18" name="Text 16"/>
          <p:cNvSpPr txBox="1"/>
          <p:nvPr/>
        </p:nvSpPr>
        <p:spPr>
          <a:xfrm>
            <a:off x="6729984" y="4023360"/>
            <a:ext cx="2039112"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JWT Authentication</a:t>
            </a:r>
            <a:endParaRPr lang="en-US" sz="1150" dirty="0"/>
          </a:p>
        </p:txBody>
      </p:sp>
      <p:sp>
        <p:nvSpPr>
          <p:cNvPr id="19" name="Shape 17"/>
          <p:cNvSpPr/>
          <p:nvPr/>
        </p:nvSpPr>
        <p:spPr>
          <a:xfrm>
            <a:off x="9043416" y="4023360"/>
            <a:ext cx="2660904" cy="566928"/>
          </a:xfrm>
          <a:prstGeom prst="roundRect">
            <a:avLst>
              <a:gd name="adj" fmla="val 14516"/>
            </a:avLst>
          </a:prstGeom>
          <a:solidFill>
            <a:srgbClr val="F4F6FB"/>
          </a:solidFill>
          <a:ln w="9525">
            <a:solidFill>
              <a:srgbClr val="DCE1EE"/>
            </a:solidFill>
            <a:prstDash val="solid"/>
          </a:ln>
        </p:spPr>
      </p:sp>
      <p:sp>
        <p:nvSpPr>
          <p:cNvPr id="20" name="Shape 18"/>
          <p:cNvSpPr/>
          <p:nvPr/>
        </p:nvSpPr>
        <p:spPr>
          <a:xfrm>
            <a:off x="9153144" y="4123944"/>
            <a:ext cx="365760" cy="365760"/>
          </a:xfrm>
          <a:prstGeom prst="ellipse">
            <a:avLst/>
          </a:prstGeom>
          <a:solidFill>
            <a:srgbClr val="1E2761"/>
          </a:solidFill>
          <a:ln w="12700">
            <a:solidFill>
              <a:srgbClr val="1E2761"/>
            </a:solidFill>
            <a:prstDash val="solid"/>
          </a:ln>
        </p:spPr>
      </p:sp>
      <p:sp>
        <p:nvSpPr>
          <p:cNvPr id="21" name="Text 19"/>
          <p:cNvSpPr txBox="1"/>
          <p:nvPr/>
        </p:nvSpPr>
        <p:spPr>
          <a:xfrm>
            <a:off x="9153144" y="412394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BC</a:t>
            </a:r>
            <a:endParaRPr lang="en-US" sz="900" dirty="0"/>
          </a:p>
        </p:txBody>
      </p:sp>
      <p:sp>
        <p:nvSpPr>
          <p:cNvPr id="22" name="Text 20"/>
          <p:cNvSpPr txBox="1"/>
          <p:nvPr/>
        </p:nvSpPr>
        <p:spPr>
          <a:xfrm>
            <a:off x="9592056" y="4023360"/>
            <a:ext cx="2039112"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bcryptjs Hashing</a:t>
            </a:r>
            <a:endParaRPr lang="en-US" sz="1150" dirty="0"/>
          </a:p>
        </p:txBody>
      </p:sp>
      <p:sp>
        <p:nvSpPr>
          <p:cNvPr id="23" name="Shape 21"/>
          <p:cNvSpPr/>
          <p:nvPr/>
        </p:nvSpPr>
        <p:spPr>
          <a:xfrm>
            <a:off x="457200" y="4736592"/>
            <a:ext cx="2660904" cy="566928"/>
          </a:xfrm>
          <a:prstGeom prst="roundRect">
            <a:avLst>
              <a:gd name="adj" fmla="val 14516"/>
            </a:avLst>
          </a:prstGeom>
          <a:solidFill>
            <a:srgbClr val="F4F6FB"/>
          </a:solidFill>
          <a:ln w="9525">
            <a:solidFill>
              <a:srgbClr val="DCE1EE"/>
            </a:solidFill>
            <a:prstDash val="solid"/>
          </a:ln>
        </p:spPr>
      </p:sp>
      <p:sp>
        <p:nvSpPr>
          <p:cNvPr id="24" name="Shape 22"/>
          <p:cNvSpPr/>
          <p:nvPr/>
        </p:nvSpPr>
        <p:spPr>
          <a:xfrm>
            <a:off x="566928" y="4837176"/>
            <a:ext cx="365760" cy="365760"/>
          </a:xfrm>
          <a:prstGeom prst="ellipse">
            <a:avLst/>
          </a:prstGeom>
          <a:solidFill>
            <a:srgbClr val="1E2761"/>
          </a:solidFill>
          <a:ln w="12700">
            <a:solidFill>
              <a:srgbClr val="1E2761"/>
            </a:solidFill>
            <a:prstDash val="solid"/>
          </a:ln>
        </p:spPr>
      </p:sp>
      <p:sp>
        <p:nvSpPr>
          <p:cNvPr id="25" name="Text 23"/>
          <p:cNvSpPr txBox="1"/>
          <p:nvPr/>
        </p:nvSpPr>
        <p:spPr>
          <a:xfrm>
            <a:off x="566928" y="4837176"/>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AI</a:t>
            </a:r>
            <a:endParaRPr lang="en-US" sz="900" dirty="0"/>
          </a:p>
        </p:txBody>
      </p:sp>
      <p:sp>
        <p:nvSpPr>
          <p:cNvPr id="26" name="Text 24"/>
          <p:cNvSpPr txBox="1"/>
          <p:nvPr/>
        </p:nvSpPr>
        <p:spPr>
          <a:xfrm>
            <a:off x="1005840" y="4736592"/>
            <a:ext cx="2039112"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Google Gemini API</a:t>
            </a:r>
            <a:endParaRPr lang="en-US" sz="1150" dirty="0"/>
          </a:p>
        </p:txBody>
      </p:sp>
      <p:sp>
        <p:nvSpPr>
          <p:cNvPr id="27" name="Shape 25"/>
          <p:cNvSpPr/>
          <p:nvPr/>
        </p:nvSpPr>
        <p:spPr>
          <a:xfrm>
            <a:off x="3319272" y="4736592"/>
            <a:ext cx="2660904" cy="566928"/>
          </a:xfrm>
          <a:prstGeom prst="roundRect">
            <a:avLst>
              <a:gd name="adj" fmla="val 14516"/>
            </a:avLst>
          </a:prstGeom>
          <a:solidFill>
            <a:srgbClr val="F4F6FB"/>
          </a:solidFill>
          <a:ln w="9525">
            <a:solidFill>
              <a:srgbClr val="DCE1EE"/>
            </a:solidFill>
            <a:prstDash val="solid"/>
          </a:ln>
        </p:spPr>
      </p:sp>
      <p:sp>
        <p:nvSpPr>
          <p:cNvPr id="28" name="Shape 26"/>
          <p:cNvSpPr/>
          <p:nvPr/>
        </p:nvSpPr>
        <p:spPr>
          <a:xfrm>
            <a:off x="3429000" y="4837176"/>
            <a:ext cx="365760" cy="365760"/>
          </a:xfrm>
          <a:prstGeom prst="ellipse">
            <a:avLst/>
          </a:prstGeom>
          <a:solidFill>
            <a:srgbClr val="1E2761"/>
          </a:solidFill>
          <a:ln w="12700">
            <a:solidFill>
              <a:srgbClr val="1E2761"/>
            </a:solidFill>
            <a:prstDash val="solid"/>
          </a:ln>
        </p:spPr>
      </p:sp>
      <p:sp>
        <p:nvSpPr>
          <p:cNvPr id="29" name="Text 27"/>
          <p:cNvSpPr txBox="1"/>
          <p:nvPr/>
        </p:nvSpPr>
        <p:spPr>
          <a:xfrm>
            <a:off x="3429000" y="4837176"/>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RB</a:t>
            </a:r>
            <a:endParaRPr lang="en-US" sz="900" dirty="0"/>
          </a:p>
        </p:txBody>
      </p:sp>
      <p:sp>
        <p:nvSpPr>
          <p:cNvPr id="30" name="Text 28"/>
          <p:cNvSpPr txBox="1"/>
          <p:nvPr/>
        </p:nvSpPr>
        <p:spPr>
          <a:xfrm>
            <a:off x="3867912" y="4736592"/>
            <a:ext cx="2039112"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Role-Based Access</a:t>
            </a:r>
            <a:endParaRPr lang="en-US" sz="1150" dirty="0"/>
          </a:p>
        </p:txBody>
      </p:sp>
      <p:sp>
        <p:nvSpPr>
          <p:cNvPr id="31" name="Shape 29"/>
          <p:cNvSpPr/>
          <p:nvPr/>
        </p:nvSpPr>
        <p:spPr>
          <a:xfrm>
            <a:off x="6181344" y="4736592"/>
            <a:ext cx="2660904" cy="566928"/>
          </a:xfrm>
          <a:prstGeom prst="roundRect">
            <a:avLst>
              <a:gd name="adj" fmla="val 14516"/>
            </a:avLst>
          </a:prstGeom>
          <a:solidFill>
            <a:srgbClr val="F4F6FB"/>
          </a:solidFill>
          <a:ln w="9525">
            <a:solidFill>
              <a:srgbClr val="DCE1EE"/>
            </a:solidFill>
            <a:prstDash val="solid"/>
          </a:ln>
        </p:spPr>
      </p:sp>
      <p:sp>
        <p:nvSpPr>
          <p:cNvPr id="32" name="Shape 30"/>
          <p:cNvSpPr/>
          <p:nvPr/>
        </p:nvSpPr>
        <p:spPr>
          <a:xfrm>
            <a:off x="6291072" y="4837176"/>
            <a:ext cx="365760" cy="365760"/>
          </a:xfrm>
          <a:prstGeom prst="ellipse">
            <a:avLst/>
          </a:prstGeom>
          <a:solidFill>
            <a:srgbClr val="1E2761"/>
          </a:solidFill>
          <a:ln w="12700">
            <a:solidFill>
              <a:srgbClr val="1E2761"/>
            </a:solidFill>
            <a:prstDash val="solid"/>
          </a:ln>
        </p:spPr>
      </p:sp>
      <p:sp>
        <p:nvSpPr>
          <p:cNvPr id="33" name="Text 31"/>
          <p:cNvSpPr txBox="1"/>
          <p:nvPr/>
        </p:nvSpPr>
        <p:spPr>
          <a:xfrm>
            <a:off x="6291072" y="4837176"/>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RJ</a:t>
            </a:r>
            <a:endParaRPr lang="en-US" sz="900" dirty="0"/>
          </a:p>
        </p:txBody>
      </p:sp>
      <p:sp>
        <p:nvSpPr>
          <p:cNvPr id="34" name="Text 32"/>
          <p:cNvSpPr txBox="1"/>
          <p:nvPr/>
        </p:nvSpPr>
        <p:spPr>
          <a:xfrm>
            <a:off x="6729984" y="4736592"/>
            <a:ext cx="2039112"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React.js Frontend</a:t>
            </a:r>
            <a:endParaRPr lang="en-US" sz="1150" dirty="0"/>
          </a:p>
        </p:txBody>
      </p:sp>
      <p:sp>
        <p:nvSpPr>
          <p:cNvPr id="35" name="Text 33"/>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Problem</a:t>
            </a:r>
            <a:endParaRPr lang="en-US" sz="3000" dirty="0"/>
          </a:p>
        </p:txBody>
      </p:sp>
      <p:sp>
        <p:nvSpPr>
          <p:cNvPr id="4" name="Text 2"/>
          <p:cNvSpPr txBox="1"/>
          <p:nvPr/>
        </p:nvSpPr>
        <p:spPr>
          <a:xfrm>
            <a:off x="914400" y="896112"/>
            <a:ext cx="10789920" cy="274320"/>
          </a:xfrm>
          <a:prstGeom prst="rect">
            <a:avLst/>
          </a:prstGeom>
          <a:noFill/>
          <a:ln/>
        </p:spPr>
        <p:txBody>
          <a:bodyPr wrap="square" lIns="0" tIns="0" rIns="0" bIns="0" rtlCol="0" anchor="ctr"/>
          <a:lstStyle/>
          <a:p>
            <a:pPr indent="0" marL="0">
              <a:buNone/>
            </a:pPr>
            <a:r>
              <a:rPr lang="en-US" sz="1250" i="1" dirty="0">
                <a:solidFill>
                  <a:srgbClr val="8A8FA3"/>
                </a:solidFill>
                <a:latin typeface="Calibri" pitchFamily="34" charset="0"/>
                <a:ea typeface="Calibri" pitchFamily="34" charset="-122"/>
                <a:cs typeface="Calibri" pitchFamily="34" charset="-120"/>
              </a:rPr>
              <a:t>Case Study — Rahul, a second-year engineering student</a:t>
            </a:r>
            <a:endParaRPr lang="en-US" sz="1250" dirty="0"/>
          </a:p>
        </p:txBody>
      </p:sp>
      <p:sp>
        <p:nvSpPr>
          <p:cNvPr id="5" name="Text 3"/>
          <p:cNvSpPr txBox="1"/>
          <p:nvPr/>
        </p:nvSpPr>
        <p:spPr>
          <a:xfrm>
            <a:off x="457200" y="1417320"/>
            <a:ext cx="11247120" cy="868680"/>
          </a:xfrm>
          <a:prstGeom prst="rect">
            <a:avLst/>
          </a:prstGeom>
          <a:noFill/>
          <a:ln/>
        </p:spPr>
        <p:txBody>
          <a:bodyPr wrap="square" lIns="0" tIns="0" rIns="0" bIns="0" rtlCol="0" anchor="ctr"/>
          <a:lstStyle/>
          <a:p>
            <a:pPr indent="0" marL="0">
              <a:lnSpc>
                <a:spcPct val="118000"/>
              </a:lnSpc>
              <a:buNone/>
            </a:pPr>
            <a:r>
              <a:rPr lang="en-US" sz="1500" dirty="0">
                <a:solidFill>
                  <a:srgbClr val="33384A"/>
                </a:solidFill>
                <a:latin typeface="Calibri" pitchFamily="34" charset="0"/>
                <a:ea typeface="Calibri" pitchFamily="34" charset="-122"/>
                <a:cs typeface="Calibri" pitchFamily="34" charset="-120"/>
              </a:rPr>
              <a:t>Rahul is preparing for semester exams while also learning new skills for internships. His notes are scattered across PDFs, textbooks, articles and handwritten pages — and with limited time, organizing and revising all of it becomes a real challenge.</a:t>
            </a:r>
            <a:endParaRPr lang="en-US" sz="1500" dirty="0"/>
          </a:p>
        </p:txBody>
      </p:sp>
      <p:sp>
        <p:nvSpPr>
          <p:cNvPr id="6" name="Text 4"/>
          <p:cNvSpPr txBox="1"/>
          <p:nvPr/>
        </p:nvSpPr>
        <p:spPr>
          <a:xfrm>
            <a:off x="457200" y="2514600"/>
            <a:ext cx="7315200" cy="292608"/>
          </a:xfrm>
          <a:prstGeom prst="rect">
            <a:avLst/>
          </a:prstGeom>
          <a:noFill/>
          <a:ln/>
        </p:spPr>
        <p:txBody>
          <a:bodyPr wrap="square" lIns="0" tIns="0" rIns="0" bIns="0" rtlCol="0" anchor="ctr"/>
          <a:lstStyle/>
          <a:p>
            <a:pPr algn="l" indent="0" marL="0">
              <a:buNone/>
            </a:pPr>
            <a:r>
              <a:rPr lang="en-US" sz="1250" b="1" dirty="0">
                <a:solidFill>
                  <a:srgbClr val="8A8FA3"/>
                </a:solidFill>
                <a:latin typeface="Calibri" pitchFamily="34" charset="0"/>
                <a:ea typeface="Calibri" pitchFamily="34" charset="-122"/>
                <a:cs typeface="Calibri" pitchFamily="34" charset="-120"/>
              </a:rPr>
              <a:t>WHERE STUDENTS LIKE RAHUL GET STUCK</a:t>
            </a:r>
            <a:endParaRPr lang="en-US" sz="1250" dirty="0"/>
          </a:p>
        </p:txBody>
      </p:sp>
      <p:sp>
        <p:nvSpPr>
          <p:cNvPr id="7" name="Text 5"/>
          <p:cNvSpPr txBox="1"/>
          <p:nvPr/>
        </p:nvSpPr>
        <p:spPr>
          <a:xfrm>
            <a:off x="457200" y="2880360"/>
            <a:ext cx="5394960" cy="3291840"/>
          </a:xfrm>
          <a:prstGeom prst="rect">
            <a:avLst/>
          </a:prstGeom>
          <a:noFill/>
          <a:ln/>
        </p:spPr>
        <p:txBody>
          <a:bodyPr wrap="square" lIns="0" tIns="0" rIns="0" bIns="0" rtlCol="0" anchor="t"/>
          <a:lstStyle/>
          <a:p>
            <a:pPr marL="228600" indent="-228600">
              <a:spcAft>
                <a:spcPts val="1600"/>
              </a:spcAft>
              <a:buSzPct val="100000"/>
              <a:buChar char="●"/>
            </a:pPr>
            <a:r>
              <a:rPr lang="en-US" sz="1450" dirty="0">
                <a:solidFill>
                  <a:srgbClr val="33384A"/>
                </a:solidFill>
                <a:latin typeface="Calibri" pitchFamily="34" charset="0"/>
                <a:ea typeface="Calibri" pitchFamily="34" charset="-122"/>
                <a:cs typeface="Calibri" pitchFamily="34" charset="-120"/>
              </a:rPr>
              <a:t>Understanding lengthy material within limited time</a:t>
            </a:r>
            <a:endParaRPr lang="en-US" sz="1450" dirty="0"/>
          </a:p>
          <a:p>
            <a:pPr marL="228600" indent="-228600">
              <a:spcAft>
                <a:spcPts val="1600"/>
              </a:spcAft>
              <a:buSzPct val="100000"/>
              <a:buChar char="●"/>
            </a:pPr>
            <a:r>
              <a:rPr lang="en-US" sz="1450" dirty="0">
                <a:solidFill>
                  <a:srgbClr val="33384A"/>
                </a:solidFill>
                <a:latin typeface="Calibri" pitchFamily="34" charset="0"/>
                <a:ea typeface="Calibri" pitchFamily="34" charset="-122"/>
                <a:cs typeface="Calibri" pitchFamily="34" charset="-120"/>
              </a:rPr>
              <a:t>Manual note-making eats up most of the study time</a:t>
            </a:r>
            <a:endParaRPr lang="en-US" sz="1450" dirty="0"/>
          </a:p>
          <a:p>
            <a:pPr marL="228600" indent="-228600">
              <a:spcAft>
                <a:spcPts val="1600"/>
              </a:spcAft>
              <a:buSzPct val="100000"/>
              <a:buChar char="●"/>
            </a:pPr>
            <a:r>
              <a:rPr lang="en-US" sz="1450" dirty="0">
                <a:solidFill>
                  <a:srgbClr val="33384A"/>
                </a:solidFill>
                <a:latin typeface="Calibri" pitchFamily="34" charset="0"/>
                <a:ea typeface="Calibri" pitchFamily="34" charset="-122"/>
                <a:cs typeface="Calibri" pitchFamily="34" charset="-120"/>
              </a:rPr>
              <a:t>Building flashcards &amp; revision questions by hand is slow</a:t>
            </a:r>
            <a:endParaRPr lang="en-US" sz="1450" dirty="0"/>
          </a:p>
          <a:p>
            <a:pPr marL="228600" indent="-228600">
              <a:spcAft>
                <a:spcPts val="1600"/>
              </a:spcAft>
              <a:buSzPct val="100000"/>
              <a:buChar char="●"/>
            </a:pPr>
            <a:r>
              <a:rPr lang="en-US" sz="1450" dirty="0">
                <a:solidFill>
                  <a:srgbClr val="33384A"/>
                </a:solidFill>
                <a:latin typeface="Calibri" pitchFamily="34" charset="0"/>
                <a:ea typeface="Calibri" pitchFamily="34" charset="-122"/>
                <a:cs typeface="Calibri" pitchFamily="34" charset="-120"/>
              </a:rPr>
              <a:t>No personalized plan based on time left before exams</a:t>
            </a:r>
            <a:endParaRPr lang="en-US" sz="1450" dirty="0"/>
          </a:p>
        </p:txBody>
      </p:sp>
      <p:sp>
        <p:nvSpPr>
          <p:cNvPr id="8" name="Text 6"/>
          <p:cNvSpPr txBox="1"/>
          <p:nvPr/>
        </p:nvSpPr>
        <p:spPr>
          <a:xfrm>
            <a:off x="6126480" y="2880360"/>
            <a:ext cx="5394960" cy="3291840"/>
          </a:xfrm>
          <a:prstGeom prst="rect">
            <a:avLst/>
          </a:prstGeom>
          <a:noFill/>
          <a:ln/>
        </p:spPr>
        <p:txBody>
          <a:bodyPr wrap="square" lIns="0" tIns="0" rIns="0" bIns="0" rtlCol="0" anchor="t"/>
          <a:lstStyle/>
          <a:p>
            <a:pPr marL="228600" indent="-228600">
              <a:spcAft>
                <a:spcPts val="1600"/>
              </a:spcAft>
              <a:buSzPct val="100000"/>
              <a:buChar char="●"/>
            </a:pPr>
            <a:r>
              <a:rPr lang="en-US" sz="1450" dirty="0">
                <a:solidFill>
                  <a:srgbClr val="33384A"/>
                </a:solidFill>
                <a:latin typeface="Calibri" pitchFamily="34" charset="0"/>
                <a:ea typeface="Calibri" pitchFamily="34" charset="-122"/>
                <a:cs typeface="Calibri" pitchFamily="34" charset="-120"/>
              </a:rPr>
              <a:t>No single, secure place to keep AI-generated resources</a:t>
            </a:r>
            <a:endParaRPr lang="en-US" sz="1450" dirty="0"/>
          </a:p>
          <a:p>
            <a:pPr marL="228600" indent="-228600">
              <a:spcAft>
                <a:spcPts val="1600"/>
              </a:spcAft>
              <a:buSzPct val="100000"/>
              <a:buChar char="●"/>
            </a:pPr>
            <a:r>
              <a:rPr lang="en-US" sz="1450" dirty="0">
                <a:solidFill>
                  <a:srgbClr val="33384A"/>
                </a:solidFill>
                <a:latin typeface="Calibri" pitchFamily="34" charset="0"/>
                <a:ea typeface="Calibri" pitchFamily="34" charset="-122"/>
                <a:cs typeface="Calibri" pitchFamily="34" charset="-120"/>
              </a:rPr>
              <a:t>Hard to self-assess understanding before the real exam</a:t>
            </a:r>
            <a:endParaRPr lang="en-US" sz="1450" dirty="0"/>
          </a:p>
          <a:p>
            <a:pPr marL="228600" indent="-228600">
              <a:spcAft>
                <a:spcPts val="1600"/>
              </a:spcAft>
              <a:buSzPct val="100000"/>
              <a:buChar char="●"/>
            </a:pPr>
            <a:r>
              <a:rPr lang="en-US" sz="1450" dirty="0">
                <a:solidFill>
                  <a:srgbClr val="33384A"/>
                </a:solidFill>
                <a:latin typeface="Calibri" pitchFamily="34" charset="0"/>
                <a:ea typeface="Calibri" pitchFamily="34" charset="-122"/>
                <a:cs typeface="Calibri" pitchFamily="34" charset="-120"/>
              </a:rPr>
              <a:t>Juggling separate apps for notes, quizzes and scheduling</a:t>
            </a:r>
            <a:endParaRPr lang="en-US" sz="145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Our Solution</a:t>
            </a:r>
            <a:endParaRPr lang="en-US" sz="3000" dirty="0"/>
          </a:p>
        </p:txBody>
      </p:sp>
      <p:sp>
        <p:nvSpPr>
          <p:cNvPr id="4" name="Text 2"/>
          <p:cNvSpPr txBox="1"/>
          <p:nvPr/>
        </p:nvSpPr>
        <p:spPr>
          <a:xfrm>
            <a:off x="457200" y="1371600"/>
            <a:ext cx="11247120" cy="914400"/>
          </a:xfrm>
          <a:prstGeom prst="rect">
            <a:avLst/>
          </a:prstGeom>
          <a:noFill/>
          <a:ln/>
        </p:spPr>
        <p:txBody>
          <a:bodyPr wrap="square" lIns="0" tIns="0" rIns="0" bIns="0" rtlCol="0" anchor="ctr"/>
          <a:lstStyle/>
          <a:p>
            <a:pPr indent="0" marL="0">
              <a:lnSpc>
                <a:spcPct val="118000"/>
              </a:lnSpc>
              <a:buNone/>
            </a:pPr>
            <a:r>
              <a:rPr lang="en-US" sz="1550" dirty="0">
                <a:solidFill>
                  <a:srgbClr val="33384A"/>
                </a:solidFill>
                <a:latin typeface="Calibri" pitchFamily="34" charset="0"/>
                <a:ea typeface="Calibri" pitchFamily="34" charset="-122"/>
                <a:cs typeface="Calibri" pitchFamily="34" charset="-120"/>
              </a:rPr>
              <a:t>AI StudyBuddy centralizes revision into one authenticated platform. Once a student uploads material, the backend takes over — calling Google Gemini to turn raw content into structured, exam-ready resources, and storing everything for later reuse.</a:t>
            </a:r>
            <a:endParaRPr lang="en-US" sz="1550" dirty="0"/>
          </a:p>
        </p:txBody>
      </p:sp>
      <p:sp>
        <p:nvSpPr>
          <p:cNvPr id="5" name="Text 3"/>
          <p:cNvSpPr txBox="1"/>
          <p:nvPr/>
        </p:nvSpPr>
        <p:spPr>
          <a:xfrm>
            <a:off x="457200" y="2468880"/>
            <a:ext cx="7315200" cy="292608"/>
          </a:xfrm>
          <a:prstGeom prst="rect">
            <a:avLst/>
          </a:prstGeom>
          <a:noFill/>
          <a:ln/>
        </p:spPr>
        <p:txBody>
          <a:bodyPr wrap="square" lIns="0" tIns="0" rIns="0" bIns="0" rtlCol="0" anchor="ctr"/>
          <a:lstStyle/>
          <a:p>
            <a:pPr algn="l" indent="0" marL="0">
              <a:buNone/>
            </a:pPr>
            <a:r>
              <a:rPr lang="en-US" sz="1250" b="1" dirty="0">
                <a:solidFill>
                  <a:srgbClr val="8A8FA3"/>
                </a:solidFill>
                <a:latin typeface="Calibri" pitchFamily="34" charset="0"/>
                <a:ea typeface="Calibri" pitchFamily="34" charset="-122"/>
                <a:cs typeface="Calibri" pitchFamily="34" charset="-120"/>
              </a:rPr>
              <a:t>WHAT THE BACKEND DOES, STEP BY STEP</a:t>
            </a:r>
            <a:endParaRPr lang="en-US" sz="1250" dirty="0"/>
          </a:p>
        </p:txBody>
      </p:sp>
      <p:sp>
        <p:nvSpPr>
          <p:cNvPr id="6" name="Shape 4"/>
          <p:cNvSpPr/>
          <p:nvPr/>
        </p:nvSpPr>
        <p:spPr>
          <a:xfrm>
            <a:off x="457200" y="2880360"/>
            <a:ext cx="2088490" cy="2103120"/>
          </a:xfrm>
          <a:prstGeom prst="roundRect">
            <a:avLst>
              <a:gd name="adj" fmla="val 3503"/>
            </a:avLst>
          </a:prstGeom>
          <a:solidFill>
            <a:srgbClr val="F4F6FB"/>
          </a:solidFill>
          <a:ln w="9525">
            <a:solidFill>
              <a:srgbClr val="DCE1EE"/>
            </a:solidFill>
            <a:prstDash val="solid"/>
          </a:ln>
        </p:spPr>
      </p:sp>
      <p:sp>
        <p:nvSpPr>
          <p:cNvPr id="7" name="Shape 5"/>
          <p:cNvSpPr/>
          <p:nvPr/>
        </p:nvSpPr>
        <p:spPr>
          <a:xfrm>
            <a:off x="1300277" y="3081528"/>
            <a:ext cx="402336" cy="402336"/>
          </a:xfrm>
          <a:prstGeom prst="ellipse">
            <a:avLst/>
          </a:prstGeom>
          <a:solidFill>
            <a:srgbClr val="1E2761"/>
          </a:solidFill>
          <a:ln w="12700">
            <a:solidFill>
              <a:srgbClr val="1E2761"/>
            </a:solidFill>
            <a:prstDash val="solid"/>
          </a:ln>
        </p:spPr>
      </p:sp>
      <p:sp>
        <p:nvSpPr>
          <p:cNvPr id="8" name="Text 6"/>
          <p:cNvSpPr txBox="1"/>
          <p:nvPr/>
        </p:nvSpPr>
        <p:spPr>
          <a:xfrm>
            <a:off x="1300277" y="3081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585216" y="3630168"/>
            <a:ext cx="1832458" cy="1234440"/>
          </a:xfrm>
          <a:prstGeom prst="rect">
            <a:avLst/>
          </a:prstGeom>
          <a:noFill/>
          <a:ln/>
        </p:spPr>
        <p:txBody>
          <a:bodyPr wrap="square" lIns="0" tIns="0" rIns="0" bIns="0" rtlCol="0" anchor="t"/>
          <a:lstStyle/>
          <a:p>
            <a:pPr algn="ctr" indent="0" marL="0">
              <a:lnSpc>
                <a:spcPct val="110000"/>
              </a:lnSpc>
              <a:buNone/>
            </a:pPr>
            <a:r>
              <a:rPr lang="en-US" sz="1100" dirty="0">
                <a:solidFill>
                  <a:srgbClr val="33384A"/>
                </a:solidFill>
                <a:latin typeface="Calibri" pitchFamily="34" charset="0"/>
                <a:ea typeface="Calibri" pitchFamily="34" charset="-122"/>
                <a:cs typeface="Calibri" pitchFamily="34" charset="-120"/>
              </a:rPr>
              <a:t>Authenticates the student using a signed JWT access token</a:t>
            </a:r>
            <a:endParaRPr lang="en-US" sz="1100" dirty="0"/>
          </a:p>
        </p:txBody>
      </p:sp>
      <p:sp>
        <p:nvSpPr>
          <p:cNvPr id="10" name="Shape 8"/>
          <p:cNvSpPr/>
          <p:nvPr/>
        </p:nvSpPr>
        <p:spPr>
          <a:xfrm>
            <a:off x="2746858" y="2880360"/>
            <a:ext cx="2088490" cy="2103120"/>
          </a:xfrm>
          <a:prstGeom prst="roundRect">
            <a:avLst>
              <a:gd name="adj" fmla="val 3503"/>
            </a:avLst>
          </a:prstGeom>
          <a:solidFill>
            <a:srgbClr val="E4F6F1"/>
          </a:solidFill>
          <a:ln w="9525">
            <a:solidFill>
              <a:srgbClr val="DCE1EE"/>
            </a:solidFill>
            <a:prstDash val="solid"/>
          </a:ln>
        </p:spPr>
      </p:sp>
      <p:sp>
        <p:nvSpPr>
          <p:cNvPr id="11" name="Shape 9"/>
          <p:cNvSpPr/>
          <p:nvPr/>
        </p:nvSpPr>
        <p:spPr>
          <a:xfrm>
            <a:off x="3589934" y="3081528"/>
            <a:ext cx="402336" cy="402336"/>
          </a:xfrm>
          <a:prstGeom prst="ellipse">
            <a:avLst/>
          </a:prstGeom>
          <a:solidFill>
            <a:srgbClr val="1E2761"/>
          </a:solidFill>
          <a:ln w="12700">
            <a:solidFill>
              <a:srgbClr val="1E2761"/>
            </a:solidFill>
            <a:prstDash val="solid"/>
          </a:ln>
        </p:spPr>
      </p:sp>
      <p:sp>
        <p:nvSpPr>
          <p:cNvPr id="12" name="Text 10"/>
          <p:cNvSpPr txBox="1"/>
          <p:nvPr/>
        </p:nvSpPr>
        <p:spPr>
          <a:xfrm>
            <a:off x="3589934" y="3081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874874" y="3630168"/>
            <a:ext cx="1832458" cy="1234440"/>
          </a:xfrm>
          <a:prstGeom prst="rect">
            <a:avLst/>
          </a:prstGeom>
          <a:noFill/>
          <a:ln/>
        </p:spPr>
        <p:txBody>
          <a:bodyPr wrap="square" lIns="0" tIns="0" rIns="0" bIns="0" rtlCol="0" anchor="t"/>
          <a:lstStyle/>
          <a:p>
            <a:pPr algn="ctr" indent="0" marL="0">
              <a:lnSpc>
                <a:spcPct val="110000"/>
              </a:lnSpc>
              <a:buNone/>
            </a:pPr>
            <a:r>
              <a:rPr lang="en-US" sz="1100" dirty="0">
                <a:solidFill>
                  <a:srgbClr val="33384A"/>
                </a:solidFill>
                <a:latin typeface="Calibri" pitchFamily="34" charset="0"/>
                <a:ea typeface="Calibri" pitchFamily="34" charset="-122"/>
                <a:cs typeface="Calibri" pitchFamily="34" charset="-120"/>
              </a:rPr>
              <a:t>Stores uploaded study material in MongoDB</a:t>
            </a:r>
            <a:endParaRPr lang="en-US" sz="1100" dirty="0"/>
          </a:p>
        </p:txBody>
      </p:sp>
      <p:sp>
        <p:nvSpPr>
          <p:cNvPr id="14" name="Shape 12"/>
          <p:cNvSpPr/>
          <p:nvPr/>
        </p:nvSpPr>
        <p:spPr>
          <a:xfrm>
            <a:off x="5036515" y="2880360"/>
            <a:ext cx="2088490" cy="2103120"/>
          </a:xfrm>
          <a:prstGeom prst="roundRect">
            <a:avLst>
              <a:gd name="adj" fmla="val 3503"/>
            </a:avLst>
          </a:prstGeom>
          <a:solidFill>
            <a:srgbClr val="F4F6FB"/>
          </a:solidFill>
          <a:ln w="9525">
            <a:solidFill>
              <a:srgbClr val="DCE1EE"/>
            </a:solidFill>
            <a:prstDash val="solid"/>
          </a:ln>
        </p:spPr>
      </p:sp>
      <p:sp>
        <p:nvSpPr>
          <p:cNvPr id="15" name="Shape 13"/>
          <p:cNvSpPr/>
          <p:nvPr/>
        </p:nvSpPr>
        <p:spPr>
          <a:xfrm>
            <a:off x="5879592" y="3081528"/>
            <a:ext cx="402336" cy="402336"/>
          </a:xfrm>
          <a:prstGeom prst="ellipse">
            <a:avLst/>
          </a:prstGeom>
          <a:solidFill>
            <a:srgbClr val="1E2761"/>
          </a:solidFill>
          <a:ln w="12700">
            <a:solidFill>
              <a:srgbClr val="1E2761"/>
            </a:solidFill>
            <a:prstDash val="solid"/>
          </a:ln>
        </p:spPr>
      </p:sp>
      <p:sp>
        <p:nvSpPr>
          <p:cNvPr id="16" name="Text 14"/>
          <p:cNvSpPr txBox="1"/>
          <p:nvPr/>
        </p:nvSpPr>
        <p:spPr>
          <a:xfrm>
            <a:off x="5879592" y="3081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5164531" y="3630168"/>
            <a:ext cx="1832458" cy="1234440"/>
          </a:xfrm>
          <a:prstGeom prst="rect">
            <a:avLst/>
          </a:prstGeom>
          <a:noFill/>
          <a:ln/>
        </p:spPr>
        <p:txBody>
          <a:bodyPr wrap="square" lIns="0" tIns="0" rIns="0" bIns="0" rtlCol="0" anchor="t"/>
          <a:lstStyle/>
          <a:p>
            <a:pPr algn="ctr" indent="0" marL="0">
              <a:lnSpc>
                <a:spcPct val="110000"/>
              </a:lnSpc>
              <a:buNone/>
            </a:pPr>
            <a:r>
              <a:rPr lang="en-US" sz="1100" dirty="0">
                <a:solidFill>
                  <a:srgbClr val="33384A"/>
                </a:solidFill>
                <a:latin typeface="Calibri" pitchFamily="34" charset="0"/>
                <a:ea typeface="Calibri" pitchFamily="34" charset="-122"/>
                <a:cs typeface="Calibri" pitchFamily="34" charset="-120"/>
              </a:rPr>
              <a:t>Sends the material to the Google Gemini API for processing</a:t>
            </a:r>
            <a:endParaRPr lang="en-US" sz="1100" dirty="0"/>
          </a:p>
        </p:txBody>
      </p:sp>
      <p:sp>
        <p:nvSpPr>
          <p:cNvPr id="18" name="Shape 16"/>
          <p:cNvSpPr/>
          <p:nvPr/>
        </p:nvSpPr>
        <p:spPr>
          <a:xfrm>
            <a:off x="7326173" y="2880360"/>
            <a:ext cx="2088490" cy="2103120"/>
          </a:xfrm>
          <a:prstGeom prst="roundRect">
            <a:avLst>
              <a:gd name="adj" fmla="val 3503"/>
            </a:avLst>
          </a:prstGeom>
          <a:solidFill>
            <a:srgbClr val="E4F6F1"/>
          </a:solidFill>
          <a:ln w="9525">
            <a:solidFill>
              <a:srgbClr val="DCE1EE"/>
            </a:solidFill>
            <a:prstDash val="solid"/>
          </a:ln>
        </p:spPr>
      </p:sp>
      <p:sp>
        <p:nvSpPr>
          <p:cNvPr id="19" name="Shape 17"/>
          <p:cNvSpPr/>
          <p:nvPr/>
        </p:nvSpPr>
        <p:spPr>
          <a:xfrm>
            <a:off x="8169250" y="3081528"/>
            <a:ext cx="402336" cy="402336"/>
          </a:xfrm>
          <a:prstGeom prst="ellipse">
            <a:avLst/>
          </a:prstGeom>
          <a:solidFill>
            <a:srgbClr val="1E2761"/>
          </a:solidFill>
          <a:ln w="12700">
            <a:solidFill>
              <a:srgbClr val="1E2761"/>
            </a:solidFill>
            <a:prstDash val="solid"/>
          </a:ln>
        </p:spPr>
      </p:sp>
      <p:sp>
        <p:nvSpPr>
          <p:cNvPr id="20" name="Text 18"/>
          <p:cNvSpPr txBox="1"/>
          <p:nvPr/>
        </p:nvSpPr>
        <p:spPr>
          <a:xfrm>
            <a:off x="8169250" y="3081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7454189" y="3630168"/>
            <a:ext cx="1832458" cy="1234440"/>
          </a:xfrm>
          <a:prstGeom prst="rect">
            <a:avLst/>
          </a:prstGeom>
          <a:noFill/>
          <a:ln/>
        </p:spPr>
        <p:txBody>
          <a:bodyPr wrap="square" lIns="0" tIns="0" rIns="0" bIns="0" rtlCol="0" anchor="t"/>
          <a:lstStyle/>
          <a:p>
            <a:pPr algn="ctr" indent="0" marL="0">
              <a:lnSpc>
                <a:spcPct val="110000"/>
              </a:lnSpc>
              <a:buNone/>
            </a:pPr>
            <a:r>
              <a:rPr lang="en-US" sz="1100" dirty="0">
                <a:solidFill>
                  <a:srgbClr val="33384A"/>
                </a:solidFill>
                <a:latin typeface="Calibri" pitchFamily="34" charset="0"/>
                <a:ea typeface="Calibri" pitchFamily="34" charset="-122"/>
                <a:cs typeface="Calibri" pitchFamily="34" charset="-120"/>
              </a:rPr>
              <a:t>Generates a summary, flashcards, a quiz, or a study plan on request</a:t>
            </a:r>
            <a:endParaRPr lang="en-US" sz="1100" dirty="0"/>
          </a:p>
        </p:txBody>
      </p:sp>
      <p:sp>
        <p:nvSpPr>
          <p:cNvPr id="22" name="Shape 20"/>
          <p:cNvSpPr/>
          <p:nvPr/>
        </p:nvSpPr>
        <p:spPr>
          <a:xfrm>
            <a:off x="9615830" y="2880360"/>
            <a:ext cx="2088490" cy="2103120"/>
          </a:xfrm>
          <a:prstGeom prst="roundRect">
            <a:avLst>
              <a:gd name="adj" fmla="val 3503"/>
            </a:avLst>
          </a:prstGeom>
          <a:solidFill>
            <a:srgbClr val="F4F6FB"/>
          </a:solidFill>
          <a:ln w="9525">
            <a:solidFill>
              <a:srgbClr val="DCE1EE"/>
            </a:solidFill>
            <a:prstDash val="solid"/>
          </a:ln>
        </p:spPr>
      </p:sp>
      <p:sp>
        <p:nvSpPr>
          <p:cNvPr id="23" name="Shape 21"/>
          <p:cNvSpPr/>
          <p:nvPr/>
        </p:nvSpPr>
        <p:spPr>
          <a:xfrm>
            <a:off x="10458907" y="3081528"/>
            <a:ext cx="402336" cy="402336"/>
          </a:xfrm>
          <a:prstGeom prst="ellipse">
            <a:avLst/>
          </a:prstGeom>
          <a:solidFill>
            <a:srgbClr val="1E2761"/>
          </a:solidFill>
          <a:ln w="12700">
            <a:solidFill>
              <a:srgbClr val="1E2761"/>
            </a:solidFill>
            <a:prstDash val="solid"/>
          </a:ln>
        </p:spPr>
      </p:sp>
      <p:sp>
        <p:nvSpPr>
          <p:cNvPr id="24" name="Text 22"/>
          <p:cNvSpPr txBox="1"/>
          <p:nvPr/>
        </p:nvSpPr>
        <p:spPr>
          <a:xfrm>
            <a:off x="10458907" y="3081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txBox="1"/>
          <p:nvPr/>
        </p:nvSpPr>
        <p:spPr>
          <a:xfrm>
            <a:off x="9743846" y="3630168"/>
            <a:ext cx="1832458" cy="1234440"/>
          </a:xfrm>
          <a:prstGeom prst="rect">
            <a:avLst/>
          </a:prstGeom>
          <a:noFill/>
          <a:ln/>
        </p:spPr>
        <p:txBody>
          <a:bodyPr wrap="square" lIns="0" tIns="0" rIns="0" bIns="0" rtlCol="0" anchor="t"/>
          <a:lstStyle/>
          <a:p>
            <a:pPr algn="ctr" indent="0" marL="0">
              <a:lnSpc>
                <a:spcPct val="110000"/>
              </a:lnSpc>
              <a:buNone/>
            </a:pPr>
            <a:r>
              <a:rPr lang="en-US" sz="1100" dirty="0">
                <a:solidFill>
                  <a:srgbClr val="33384A"/>
                </a:solidFill>
                <a:latin typeface="Calibri" pitchFamily="34" charset="0"/>
                <a:ea typeface="Calibri" pitchFamily="34" charset="-122"/>
                <a:cs typeface="Calibri" pitchFamily="34" charset="-120"/>
              </a:rPr>
              <a:t>Saves every generated resource for future retrieval and reuse</a:t>
            </a:r>
            <a:endParaRPr lang="en-US" sz="1100" dirty="0"/>
          </a:p>
        </p:txBody>
      </p:sp>
      <p:sp>
        <p:nvSpPr>
          <p:cNvPr id="26" name="Text 24"/>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Key Features</a:t>
            </a:r>
            <a:endParaRPr lang="en-US" sz="3000" dirty="0"/>
          </a:p>
        </p:txBody>
      </p:sp>
      <p:sp>
        <p:nvSpPr>
          <p:cNvPr id="4" name="Shape 2"/>
          <p:cNvSpPr/>
          <p:nvPr/>
        </p:nvSpPr>
        <p:spPr>
          <a:xfrm>
            <a:off x="457200" y="1417320"/>
            <a:ext cx="2660904" cy="2148840"/>
          </a:xfrm>
          <a:prstGeom prst="roundRect">
            <a:avLst>
              <a:gd name="adj" fmla="val 3404"/>
            </a:avLst>
          </a:prstGeom>
          <a:solidFill>
            <a:srgbClr val="F4F6FB"/>
          </a:solidFill>
          <a:ln w="9525">
            <a:solidFill>
              <a:srgbClr val="DCE1EE"/>
            </a:solidFill>
            <a:prstDash val="solid"/>
          </a:ln>
        </p:spPr>
      </p:sp>
      <p:sp>
        <p:nvSpPr>
          <p:cNvPr id="5" name="Shape 3"/>
          <p:cNvSpPr/>
          <p:nvPr/>
        </p:nvSpPr>
        <p:spPr>
          <a:xfrm>
            <a:off x="621792" y="1581912"/>
            <a:ext cx="384048" cy="384048"/>
          </a:xfrm>
          <a:prstGeom prst="ellipse">
            <a:avLst/>
          </a:prstGeom>
          <a:solidFill>
            <a:srgbClr val="1FAE8C"/>
          </a:solidFill>
          <a:ln w="12700">
            <a:solidFill>
              <a:srgbClr val="1FAE8C"/>
            </a:solidFill>
            <a:prstDash val="solid"/>
          </a:ln>
        </p:spPr>
      </p:sp>
      <p:sp>
        <p:nvSpPr>
          <p:cNvPr id="6" name="Text 4"/>
          <p:cNvSpPr txBox="1"/>
          <p:nvPr/>
        </p:nvSpPr>
        <p:spPr>
          <a:xfrm>
            <a:off x="621792" y="15819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JW</a:t>
            </a:r>
            <a:endParaRPr lang="en-US" sz="1000" dirty="0"/>
          </a:p>
        </p:txBody>
      </p:sp>
      <p:sp>
        <p:nvSpPr>
          <p:cNvPr id="7" name="Text 5"/>
          <p:cNvSpPr txBox="1"/>
          <p:nvPr/>
        </p:nvSpPr>
        <p:spPr>
          <a:xfrm>
            <a:off x="621792" y="2039112"/>
            <a:ext cx="2331720" cy="36576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Secure Authentication</a:t>
            </a:r>
            <a:endParaRPr lang="en-US" sz="1300" dirty="0"/>
          </a:p>
        </p:txBody>
      </p:sp>
      <p:sp>
        <p:nvSpPr>
          <p:cNvPr id="8" name="Text 6"/>
          <p:cNvSpPr txBox="1"/>
          <p:nvPr/>
        </p:nvSpPr>
        <p:spPr>
          <a:xfrm>
            <a:off x="621792" y="2386584"/>
            <a:ext cx="2331720" cy="1069848"/>
          </a:xfrm>
          <a:prstGeom prst="rect">
            <a:avLst/>
          </a:prstGeom>
          <a:noFill/>
          <a:ln/>
        </p:spPr>
        <p:txBody>
          <a:bodyPr wrap="square" lIns="0" tIns="0" rIns="0" bIns="0" rtlCol="0" anchor="t"/>
          <a:lstStyle/>
          <a:p>
            <a:pPr indent="0" marL="0">
              <a:lnSpc>
                <a:spcPct val="108000"/>
              </a:lnSpc>
              <a:buNone/>
            </a:pPr>
            <a:r>
              <a:rPr lang="en-US" sz="1050" dirty="0">
                <a:solidFill>
                  <a:srgbClr val="33384A"/>
                </a:solidFill>
                <a:latin typeface="Calibri" pitchFamily="34" charset="0"/>
                <a:ea typeface="Calibri" pitchFamily="34" charset="-122"/>
                <a:cs typeface="Calibri" pitchFamily="34" charset="-120"/>
              </a:rPr>
              <a:t>JWT access &amp; refresh tokens with bcrypt-hashed passwords.</a:t>
            </a:r>
            <a:endParaRPr lang="en-US" sz="1050" dirty="0"/>
          </a:p>
        </p:txBody>
      </p:sp>
      <p:sp>
        <p:nvSpPr>
          <p:cNvPr id="9" name="Shape 7"/>
          <p:cNvSpPr/>
          <p:nvPr/>
        </p:nvSpPr>
        <p:spPr>
          <a:xfrm>
            <a:off x="3319272" y="1417320"/>
            <a:ext cx="2660904" cy="2148840"/>
          </a:xfrm>
          <a:prstGeom prst="roundRect">
            <a:avLst>
              <a:gd name="adj" fmla="val 3404"/>
            </a:avLst>
          </a:prstGeom>
          <a:solidFill>
            <a:srgbClr val="F4F6FB"/>
          </a:solidFill>
          <a:ln w="9525">
            <a:solidFill>
              <a:srgbClr val="DCE1EE"/>
            </a:solidFill>
            <a:prstDash val="solid"/>
          </a:ln>
        </p:spPr>
      </p:sp>
      <p:sp>
        <p:nvSpPr>
          <p:cNvPr id="10" name="Shape 8"/>
          <p:cNvSpPr/>
          <p:nvPr/>
        </p:nvSpPr>
        <p:spPr>
          <a:xfrm>
            <a:off x="3483864" y="1581912"/>
            <a:ext cx="384048" cy="384048"/>
          </a:xfrm>
          <a:prstGeom prst="ellipse">
            <a:avLst/>
          </a:prstGeom>
          <a:solidFill>
            <a:srgbClr val="1FAE8C"/>
          </a:solidFill>
          <a:ln w="12700">
            <a:solidFill>
              <a:srgbClr val="1FAE8C"/>
            </a:solidFill>
            <a:prstDash val="solid"/>
          </a:ln>
        </p:spPr>
      </p:sp>
      <p:sp>
        <p:nvSpPr>
          <p:cNvPr id="11" name="Text 9"/>
          <p:cNvSpPr txBox="1"/>
          <p:nvPr/>
        </p:nvSpPr>
        <p:spPr>
          <a:xfrm>
            <a:off x="3483864" y="15819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RB</a:t>
            </a:r>
            <a:endParaRPr lang="en-US" sz="1000" dirty="0"/>
          </a:p>
        </p:txBody>
      </p:sp>
      <p:sp>
        <p:nvSpPr>
          <p:cNvPr id="12" name="Text 10"/>
          <p:cNvSpPr txBox="1"/>
          <p:nvPr/>
        </p:nvSpPr>
        <p:spPr>
          <a:xfrm>
            <a:off x="3483864" y="2039112"/>
            <a:ext cx="2331720" cy="36576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Role-Based Access</a:t>
            </a:r>
            <a:endParaRPr lang="en-US" sz="1300" dirty="0"/>
          </a:p>
        </p:txBody>
      </p:sp>
      <p:sp>
        <p:nvSpPr>
          <p:cNvPr id="13" name="Text 11"/>
          <p:cNvSpPr txBox="1"/>
          <p:nvPr/>
        </p:nvSpPr>
        <p:spPr>
          <a:xfrm>
            <a:off x="3483864" y="2386584"/>
            <a:ext cx="2331720" cy="1069848"/>
          </a:xfrm>
          <a:prstGeom prst="rect">
            <a:avLst/>
          </a:prstGeom>
          <a:noFill/>
          <a:ln/>
        </p:spPr>
        <p:txBody>
          <a:bodyPr wrap="square" lIns="0" tIns="0" rIns="0" bIns="0" rtlCol="0" anchor="t"/>
          <a:lstStyle/>
          <a:p>
            <a:pPr indent="0" marL="0">
              <a:lnSpc>
                <a:spcPct val="108000"/>
              </a:lnSpc>
              <a:buNone/>
            </a:pPr>
            <a:r>
              <a:rPr lang="en-US" sz="1050" dirty="0">
                <a:solidFill>
                  <a:srgbClr val="33384A"/>
                </a:solidFill>
                <a:latin typeface="Calibri" pitchFamily="34" charset="0"/>
                <a:ea typeface="Calibri" pitchFamily="34" charset="-122"/>
                <a:cs typeface="Calibri" pitchFamily="34" charset="-120"/>
              </a:rPr>
              <a:t>Separate permissions for Student and Administrator roles.</a:t>
            </a:r>
            <a:endParaRPr lang="en-US" sz="1050" dirty="0"/>
          </a:p>
        </p:txBody>
      </p:sp>
      <p:sp>
        <p:nvSpPr>
          <p:cNvPr id="14" name="Shape 12"/>
          <p:cNvSpPr/>
          <p:nvPr/>
        </p:nvSpPr>
        <p:spPr>
          <a:xfrm>
            <a:off x="6181344" y="1417320"/>
            <a:ext cx="2660904" cy="2148840"/>
          </a:xfrm>
          <a:prstGeom prst="roundRect">
            <a:avLst>
              <a:gd name="adj" fmla="val 3404"/>
            </a:avLst>
          </a:prstGeom>
          <a:solidFill>
            <a:srgbClr val="F4F6FB"/>
          </a:solidFill>
          <a:ln w="9525">
            <a:solidFill>
              <a:srgbClr val="DCE1EE"/>
            </a:solidFill>
            <a:prstDash val="solid"/>
          </a:ln>
        </p:spPr>
      </p:sp>
      <p:sp>
        <p:nvSpPr>
          <p:cNvPr id="15" name="Shape 13"/>
          <p:cNvSpPr/>
          <p:nvPr/>
        </p:nvSpPr>
        <p:spPr>
          <a:xfrm>
            <a:off x="6345936" y="1581912"/>
            <a:ext cx="384048" cy="384048"/>
          </a:xfrm>
          <a:prstGeom prst="ellipse">
            <a:avLst/>
          </a:prstGeom>
          <a:solidFill>
            <a:srgbClr val="1FAE8C"/>
          </a:solidFill>
          <a:ln w="12700">
            <a:solidFill>
              <a:srgbClr val="1FAE8C"/>
            </a:solidFill>
            <a:prstDash val="solid"/>
          </a:ln>
        </p:spPr>
      </p:sp>
      <p:sp>
        <p:nvSpPr>
          <p:cNvPr id="16" name="Text 14"/>
          <p:cNvSpPr txBox="1"/>
          <p:nvPr/>
        </p:nvSpPr>
        <p:spPr>
          <a:xfrm>
            <a:off x="6345936" y="15819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UP</a:t>
            </a:r>
            <a:endParaRPr lang="en-US" sz="1000" dirty="0"/>
          </a:p>
        </p:txBody>
      </p:sp>
      <p:sp>
        <p:nvSpPr>
          <p:cNvPr id="17" name="Text 15"/>
          <p:cNvSpPr txBox="1"/>
          <p:nvPr/>
        </p:nvSpPr>
        <p:spPr>
          <a:xfrm>
            <a:off x="6345936" y="2039112"/>
            <a:ext cx="2331720" cy="36576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Material Management</a:t>
            </a:r>
            <a:endParaRPr lang="en-US" sz="1300" dirty="0"/>
          </a:p>
        </p:txBody>
      </p:sp>
      <p:sp>
        <p:nvSpPr>
          <p:cNvPr id="18" name="Text 16"/>
          <p:cNvSpPr txBox="1"/>
          <p:nvPr/>
        </p:nvSpPr>
        <p:spPr>
          <a:xfrm>
            <a:off x="6345936" y="2386584"/>
            <a:ext cx="2331720" cy="1069848"/>
          </a:xfrm>
          <a:prstGeom prst="rect">
            <a:avLst/>
          </a:prstGeom>
          <a:noFill/>
          <a:ln/>
        </p:spPr>
        <p:txBody>
          <a:bodyPr wrap="square" lIns="0" tIns="0" rIns="0" bIns="0" rtlCol="0" anchor="t"/>
          <a:lstStyle/>
          <a:p>
            <a:pPr indent="0" marL="0">
              <a:lnSpc>
                <a:spcPct val="108000"/>
              </a:lnSpc>
              <a:buNone/>
            </a:pPr>
            <a:r>
              <a:rPr lang="en-US" sz="1050" dirty="0">
                <a:solidFill>
                  <a:srgbClr val="33384A"/>
                </a:solidFill>
                <a:latin typeface="Calibri" pitchFamily="34" charset="0"/>
                <a:ea typeface="Calibri" pitchFamily="34" charset="-122"/>
                <a:cs typeface="Calibri" pitchFamily="34" charset="-120"/>
              </a:rPr>
              <a:t>Upload and organize study content as input for AI features.</a:t>
            </a:r>
            <a:endParaRPr lang="en-US" sz="1050" dirty="0"/>
          </a:p>
        </p:txBody>
      </p:sp>
      <p:sp>
        <p:nvSpPr>
          <p:cNvPr id="19" name="Shape 17"/>
          <p:cNvSpPr/>
          <p:nvPr/>
        </p:nvSpPr>
        <p:spPr>
          <a:xfrm>
            <a:off x="9043416" y="1417320"/>
            <a:ext cx="2660904" cy="2148840"/>
          </a:xfrm>
          <a:prstGeom prst="roundRect">
            <a:avLst>
              <a:gd name="adj" fmla="val 3404"/>
            </a:avLst>
          </a:prstGeom>
          <a:solidFill>
            <a:srgbClr val="F4F6FB"/>
          </a:solidFill>
          <a:ln w="9525">
            <a:solidFill>
              <a:srgbClr val="DCE1EE"/>
            </a:solidFill>
            <a:prstDash val="solid"/>
          </a:ln>
        </p:spPr>
      </p:sp>
      <p:sp>
        <p:nvSpPr>
          <p:cNvPr id="20" name="Shape 18"/>
          <p:cNvSpPr/>
          <p:nvPr/>
        </p:nvSpPr>
        <p:spPr>
          <a:xfrm>
            <a:off x="9208008" y="1581912"/>
            <a:ext cx="384048" cy="384048"/>
          </a:xfrm>
          <a:prstGeom prst="ellipse">
            <a:avLst/>
          </a:prstGeom>
          <a:solidFill>
            <a:srgbClr val="1FAE8C"/>
          </a:solidFill>
          <a:ln w="12700">
            <a:solidFill>
              <a:srgbClr val="1FAE8C"/>
            </a:solidFill>
            <a:prstDash val="solid"/>
          </a:ln>
        </p:spPr>
      </p:sp>
      <p:sp>
        <p:nvSpPr>
          <p:cNvPr id="21" name="Text 19"/>
          <p:cNvSpPr txBox="1"/>
          <p:nvPr/>
        </p:nvSpPr>
        <p:spPr>
          <a:xfrm>
            <a:off x="9208008" y="15819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a:t>
            </a:r>
            <a:endParaRPr lang="en-US" sz="1000" dirty="0"/>
          </a:p>
        </p:txBody>
      </p:sp>
      <p:sp>
        <p:nvSpPr>
          <p:cNvPr id="22" name="Text 20"/>
          <p:cNvSpPr txBox="1"/>
          <p:nvPr/>
        </p:nvSpPr>
        <p:spPr>
          <a:xfrm>
            <a:off x="9208008" y="2039112"/>
            <a:ext cx="2331720" cy="36576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AI Summaries</a:t>
            </a:r>
            <a:endParaRPr lang="en-US" sz="1300" dirty="0"/>
          </a:p>
        </p:txBody>
      </p:sp>
      <p:sp>
        <p:nvSpPr>
          <p:cNvPr id="23" name="Text 21"/>
          <p:cNvSpPr txBox="1"/>
          <p:nvPr/>
        </p:nvSpPr>
        <p:spPr>
          <a:xfrm>
            <a:off x="9208008" y="2386584"/>
            <a:ext cx="2331720" cy="1069848"/>
          </a:xfrm>
          <a:prstGeom prst="rect">
            <a:avLst/>
          </a:prstGeom>
          <a:noFill/>
          <a:ln/>
        </p:spPr>
        <p:txBody>
          <a:bodyPr wrap="square" lIns="0" tIns="0" rIns="0" bIns="0" rtlCol="0" anchor="t"/>
          <a:lstStyle/>
          <a:p>
            <a:pPr indent="0" marL="0">
              <a:lnSpc>
                <a:spcPct val="108000"/>
              </a:lnSpc>
              <a:buNone/>
            </a:pPr>
            <a:r>
              <a:rPr lang="en-US" sz="1050" dirty="0">
                <a:solidFill>
                  <a:srgbClr val="33384A"/>
                </a:solidFill>
                <a:latin typeface="Calibri" pitchFamily="34" charset="0"/>
                <a:ea typeface="Calibri" pitchFamily="34" charset="-122"/>
                <a:cs typeface="Calibri" pitchFamily="34" charset="-120"/>
              </a:rPr>
              <a:t>Concise, easy-to-scan summaries of any uploaded material.</a:t>
            </a:r>
            <a:endParaRPr lang="en-US" sz="1050" dirty="0"/>
          </a:p>
        </p:txBody>
      </p:sp>
      <p:sp>
        <p:nvSpPr>
          <p:cNvPr id="24" name="Shape 22"/>
          <p:cNvSpPr/>
          <p:nvPr/>
        </p:nvSpPr>
        <p:spPr>
          <a:xfrm>
            <a:off x="457200" y="3767328"/>
            <a:ext cx="2660904" cy="2148840"/>
          </a:xfrm>
          <a:prstGeom prst="roundRect">
            <a:avLst>
              <a:gd name="adj" fmla="val 3404"/>
            </a:avLst>
          </a:prstGeom>
          <a:solidFill>
            <a:srgbClr val="F4F6FB"/>
          </a:solidFill>
          <a:ln w="9525">
            <a:solidFill>
              <a:srgbClr val="DCE1EE"/>
            </a:solidFill>
            <a:prstDash val="solid"/>
          </a:ln>
        </p:spPr>
      </p:sp>
      <p:sp>
        <p:nvSpPr>
          <p:cNvPr id="25" name="Shape 23"/>
          <p:cNvSpPr/>
          <p:nvPr/>
        </p:nvSpPr>
        <p:spPr>
          <a:xfrm>
            <a:off x="621792" y="3931920"/>
            <a:ext cx="384048" cy="384048"/>
          </a:xfrm>
          <a:prstGeom prst="ellipse">
            <a:avLst/>
          </a:prstGeom>
          <a:solidFill>
            <a:srgbClr val="1FAE8C"/>
          </a:solidFill>
          <a:ln w="12700">
            <a:solidFill>
              <a:srgbClr val="1FAE8C"/>
            </a:solidFill>
            <a:prstDash val="solid"/>
          </a:ln>
        </p:spPr>
      </p:sp>
      <p:sp>
        <p:nvSpPr>
          <p:cNvPr id="26" name="Text 24"/>
          <p:cNvSpPr txBox="1"/>
          <p:nvPr/>
        </p:nvSpPr>
        <p:spPr>
          <a:xfrm>
            <a:off x="621792" y="39319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FC</a:t>
            </a:r>
            <a:endParaRPr lang="en-US" sz="1000" dirty="0"/>
          </a:p>
        </p:txBody>
      </p:sp>
      <p:sp>
        <p:nvSpPr>
          <p:cNvPr id="27" name="Text 25"/>
          <p:cNvSpPr txBox="1"/>
          <p:nvPr/>
        </p:nvSpPr>
        <p:spPr>
          <a:xfrm>
            <a:off x="621792" y="4389120"/>
            <a:ext cx="2331720" cy="36576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AI Flashcards</a:t>
            </a:r>
            <a:endParaRPr lang="en-US" sz="1300" dirty="0"/>
          </a:p>
        </p:txBody>
      </p:sp>
      <p:sp>
        <p:nvSpPr>
          <p:cNvPr id="28" name="Text 26"/>
          <p:cNvSpPr txBox="1"/>
          <p:nvPr/>
        </p:nvSpPr>
        <p:spPr>
          <a:xfrm>
            <a:off x="621792" y="4736592"/>
            <a:ext cx="2331720" cy="1069848"/>
          </a:xfrm>
          <a:prstGeom prst="rect">
            <a:avLst/>
          </a:prstGeom>
          <a:noFill/>
          <a:ln/>
        </p:spPr>
        <p:txBody>
          <a:bodyPr wrap="square" lIns="0" tIns="0" rIns="0" bIns="0" rtlCol="0" anchor="t"/>
          <a:lstStyle/>
          <a:p>
            <a:pPr indent="0" marL="0">
              <a:lnSpc>
                <a:spcPct val="108000"/>
              </a:lnSpc>
              <a:buNone/>
            </a:pPr>
            <a:r>
              <a:rPr lang="en-US" sz="1050" dirty="0">
                <a:solidFill>
                  <a:srgbClr val="33384A"/>
                </a:solidFill>
                <a:latin typeface="Calibri" pitchFamily="34" charset="0"/>
                <a:ea typeface="Calibri" pitchFamily="34" charset="-122"/>
                <a:cs typeface="Calibri" pitchFamily="34" charset="-120"/>
              </a:rPr>
              <a:t>Auto-generated Q&amp;A cards for active-recall revision.</a:t>
            </a:r>
            <a:endParaRPr lang="en-US" sz="1050" dirty="0"/>
          </a:p>
        </p:txBody>
      </p:sp>
      <p:sp>
        <p:nvSpPr>
          <p:cNvPr id="29" name="Shape 27"/>
          <p:cNvSpPr/>
          <p:nvPr/>
        </p:nvSpPr>
        <p:spPr>
          <a:xfrm>
            <a:off x="3319272" y="3767328"/>
            <a:ext cx="2660904" cy="2148840"/>
          </a:xfrm>
          <a:prstGeom prst="roundRect">
            <a:avLst>
              <a:gd name="adj" fmla="val 3404"/>
            </a:avLst>
          </a:prstGeom>
          <a:solidFill>
            <a:srgbClr val="F4F6FB"/>
          </a:solidFill>
          <a:ln w="9525">
            <a:solidFill>
              <a:srgbClr val="DCE1EE"/>
            </a:solidFill>
            <a:prstDash val="solid"/>
          </a:ln>
        </p:spPr>
      </p:sp>
      <p:sp>
        <p:nvSpPr>
          <p:cNvPr id="30" name="Shape 28"/>
          <p:cNvSpPr/>
          <p:nvPr/>
        </p:nvSpPr>
        <p:spPr>
          <a:xfrm>
            <a:off x="3483864" y="3931920"/>
            <a:ext cx="384048" cy="384048"/>
          </a:xfrm>
          <a:prstGeom prst="ellipse">
            <a:avLst/>
          </a:prstGeom>
          <a:solidFill>
            <a:srgbClr val="1FAE8C"/>
          </a:solidFill>
          <a:ln w="12700">
            <a:solidFill>
              <a:srgbClr val="1FAE8C"/>
            </a:solidFill>
            <a:prstDash val="solid"/>
          </a:ln>
        </p:spPr>
      </p:sp>
      <p:sp>
        <p:nvSpPr>
          <p:cNvPr id="31" name="Text 29"/>
          <p:cNvSpPr txBox="1"/>
          <p:nvPr/>
        </p:nvSpPr>
        <p:spPr>
          <a:xfrm>
            <a:off x="3483864" y="39319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QZ</a:t>
            </a:r>
            <a:endParaRPr lang="en-US" sz="1000" dirty="0"/>
          </a:p>
        </p:txBody>
      </p:sp>
      <p:sp>
        <p:nvSpPr>
          <p:cNvPr id="32" name="Text 30"/>
          <p:cNvSpPr txBox="1"/>
          <p:nvPr/>
        </p:nvSpPr>
        <p:spPr>
          <a:xfrm>
            <a:off x="3483864" y="4389120"/>
            <a:ext cx="2331720" cy="36576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AI Quizzes</a:t>
            </a:r>
            <a:endParaRPr lang="en-US" sz="1300" dirty="0"/>
          </a:p>
        </p:txBody>
      </p:sp>
      <p:sp>
        <p:nvSpPr>
          <p:cNvPr id="33" name="Text 31"/>
          <p:cNvSpPr txBox="1"/>
          <p:nvPr/>
        </p:nvSpPr>
        <p:spPr>
          <a:xfrm>
            <a:off x="3483864" y="4736592"/>
            <a:ext cx="2331720" cy="1069848"/>
          </a:xfrm>
          <a:prstGeom prst="rect">
            <a:avLst/>
          </a:prstGeom>
          <a:noFill/>
          <a:ln/>
        </p:spPr>
        <p:txBody>
          <a:bodyPr wrap="square" lIns="0" tIns="0" rIns="0" bIns="0" rtlCol="0" anchor="t"/>
          <a:lstStyle/>
          <a:p>
            <a:pPr indent="0" marL="0">
              <a:lnSpc>
                <a:spcPct val="108000"/>
              </a:lnSpc>
              <a:buNone/>
            </a:pPr>
            <a:r>
              <a:rPr lang="en-US" sz="1050" dirty="0">
                <a:solidFill>
                  <a:srgbClr val="33384A"/>
                </a:solidFill>
                <a:latin typeface="Calibri" pitchFamily="34" charset="0"/>
                <a:ea typeface="Calibri" pitchFamily="34" charset="-122"/>
                <a:cs typeface="Calibri" pitchFamily="34" charset="-120"/>
              </a:rPr>
              <a:t>Multiple-choice questions to self-test understanding.</a:t>
            </a:r>
            <a:endParaRPr lang="en-US" sz="1050" dirty="0"/>
          </a:p>
        </p:txBody>
      </p:sp>
      <p:sp>
        <p:nvSpPr>
          <p:cNvPr id="34" name="Shape 32"/>
          <p:cNvSpPr/>
          <p:nvPr/>
        </p:nvSpPr>
        <p:spPr>
          <a:xfrm>
            <a:off x="6181344" y="3767328"/>
            <a:ext cx="2660904" cy="2148840"/>
          </a:xfrm>
          <a:prstGeom prst="roundRect">
            <a:avLst>
              <a:gd name="adj" fmla="val 3404"/>
            </a:avLst>
          </a:prstGeom>
          <a:solidFill>
            <a:srgbClr val="F4F6FB"/>
          </a:solidFill>
          <a:ln w="9525">
            <a:solidFill>
              <a:srgbClr val="DCE1EE"/>
            </a:solidFill>
            <a:prstDash val="solid"/>
          </a:ln>
        </p:spPr>
      </p:sp>
      <p:sp>
        <p:nvSpPr>
          <p:cNvPr id="35" name="Shape 33"/>
          <p:cNvSpPr/>
          <p:nvPr/>
        </p:nvSpPr>
        <p:spPr>
          <a:xfrm>
            <a:off x="6345936" y="3931920"/>
            <a:ext cx="384048" cy="384048"/>
          </a:xfrm>
          <a:prstGeom prst="ellipse">
            <a:avLst/>
          </a:prstGeom>
          <a:solidFill>
            <a:srgbClr val="1FAE8C"/>
          </a:solidFill>
          <a:ln w="12700">
            <a:solidFill>
              <a:srgbClr val="1FAE8C"/>
            </a:solidFill>
            <a:prstDash val="solid"/>
          </a:ln>
        </p:spPr>
      </p:sp>
      <p:sp>
        <p:nvSpPr>
          <p:cNvPr id="36" name="Text 34"/>
          <p:cNvSpPr txBox="1"/>
          <p:nvPr/>
        </p:nvSpPr>
        <p:spPr>
          <a:xfrm>
            <a:off x="6345936" y="39319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SP</a:t>
            </a:r>
            <a:endParaRPr lang="en-US" sz="1000" dirty="0"/>
          </a:p>
        </p:txBody>
      </p:sp>
      <p:sp>
        <p:nvSpPr>
          <p:cNvPr id="37" name="Text 35"/>
          <p:cNvSpPr txBox="1"/>
          <p:nvPr/>
        </p:nvSpPr>
        <p:spPr>
          <a:xfrm>
            <a:off x="6345936" y="4389120"/>
            <a:ext cx="2331720" cy="36576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AI Study Plans</a:t>
            </a:r>
            <a:endParaRPr lang="en-US" sz="1300" dirty="0"/>
          </a:p>
        </p:txBody>
      </p:sp>
      <p:sp>
        <p:nvSpPr>
          <p:cNvPr id="38" name="Text 36"/>
          <p:cNvSpPr txBox="1"/>
          <p:nvPr/>
        </p:nvSpPr>
        <p:spPr>
          <a:xfrm>
            <a:off x="6345936" y="4736592"/>
            <a:ext cx="2331720" cy="1069848"/>
          </a:xfrm>
          <a:prstGeom prst="rect">
            <a:avLst/>
          </a:prstGeom>
          <a:noFill/>
          <a:ln/>
        </p:spPr>
        <p:txBody>
          <a:bodyPr wrap="square" lIns="0" tIns="0" rIns="0" bIns="0" rtlCol="0" anchor="t"/>
          <a:lstStyle/>
          <a:p>
            <a:pPr indent="0" marL="0">
              <a:lnSpc>
                <a:spcPct val="108000"/>
              </a:lnSpc>
              <a:buNone/>
            </a:pPr>
            <a:r>
              <a:rPr lang="en-US" sz="1050" dirty="0">
                <a:solidFill>
                  <a:srgbClr val="33384A"/>
                </a:solidFill>
                <a:latin typeface="Calibri" pitchFamily="34" charset="0"/>
                <a:ea typeface="Calibri" pitchFamily="34" charset="-122"/>
                <a:cs typeface="Calibri" pitchFamily="34" charset="-120"/>
              </a:rPr>
              <a:t>Day-by-day schedules built around the student's exam date.</a:t>
            </a:r>
            <a:endParaRPr lang="en-US" sz="1050" dirty="0"/>
          </a:p>
        </p:txBody>
      </p:sp>
      <p:sp>
        <p:nvSpPr>
          <p:cNvPr id="39" name="Shape 37"/>
          <p:cNvSpPr/>
          <p:nvPr/>
        </p:nvSpPr>
        <p:spPr>
          <a:xfrm>
            <a:off x="9043416" y="3767328"/>
            <a:ext cx="2660904" cy="2148840"/>
          </a:xfrm>
          <a:prstGeom prst="roundRect">
            <a:avLst>
              <a:gd name="adj" fmla="val 3404"/>
            </a:avLst>
          </a:prstGeom>
          <a:solidFill>
            <a:srgbClr val="F4F6FB"/>
          </a:solidFill>
          <a:ln w="9525">
            <a:solidFill>
              <a:srgbClr val="DCE1EE"/>
            </a:solidFill>
            <a:prstDash val="solid"/>
          </a:ln>
        </p:spPr>
      </p:sp>
      <p:sp>
        <p:nvSpPr>
          <p:cNvPr id="40" name="Shape 38"/>
          <p:cNvSpPr/>
          <p:nvPr/>
        </p:nvSpPr>
        <p:spPr>
          <a:xfrm>
            <a:off x="9208008" y="3931920"/>
            <a:ext cx="384048" cy="384048"/>
          </a:xfrm>
          <a:prstGeom prst="ellipse">
            <a:avLst/>
          </a:prstGeom>
          <a:solidFill>
            <a:srgbClr val="1FAE8C"/>
          </a:solidFill>
          <a:ln w="12700">
            <a:solidFill>
              <a:srgbClr val="1FAE8C"/>
            </a:solidFill>
            <a:prstDash val="solid"/>
          </a:ln>
        </p:spPr>
      </p:sp>
      <p:sp>
        <p:nvSpPr>
          <p:cNvPr id="41" name="Text 39"/>
          <p:cNvSpPr txBox="1"/>
          <p:nvPr/>
        </p:nvSpPr>
        <p:spPr>
          <a:xfrm>
            <a:off x="9208008" y="39319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DB</a:t>
            </a:r>
            <a:endParaRPr lang="en-US" sz="1000" dirty="0"/>
          </a:p>
        </p:txBody>
      </p:sp>
      <p:sp>
        <p:nvSpPr>
          <p:cNvPr id="42" name="Text 40"/>
          <p:cNvSpPr txBox="1"/>
          <p:nvPr/>
        </p:nvSpPr>
        <p:spPr>
          <a:xfrm>
            <a:off x="9208008" y="4389120"/>
            <a:ext cx="2331720" cy="36576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MongoDB Storage</a:t>
            </a:r>
            <a:endParaRPr lang="en-US" sz="1300" dirty="0"/>
          </a:p>
        </p:txBody>
      </p:sp>
      <p:sp>
        <p:nvSpPr>
          <p:cNvPr id="43" name="Text 41"/>
          <p:cNvSpPr txBox="1"/>
          <p:nvPr/>
        </p:nvSpPr>
        <p:spPr>
          <a:xfrm>
            <a:off x="9208008" y="4736592"/>
            <a:ext cx="2331720" cy="1069848"/>
          </a:xfrm>
          <a:prstGeom prst="rect">
            <a:avLst/>
          </a:prstGeom>
          <a:noFill/>
          <a:ln/>
        </p:spPr>
        <p:txBody>
          <a:bodyPr wrap="square" lIns="0" tIns="0" rIns="0" bIns="0" rtlCol="0" anchor="t"/>
          <a:lstStyle/>
          <a:p>
            <a:pPr indent="0" marL="0">
              <a:lnSpc>
                <a:spcPct val="108000"/>
              </a:lnSpc>
              <a:buNone/>
            </a:pPr>
            <a:r>
              <a:rPr lang="en-US" sz="1050" dirty="0">
                <a:solidFill>
                  <a:srgbClr val="33384A"/>
                </a:solidFill>
                <a:latin typeface="Calibri" pitchFamily="34" charset="0"/>
                <a:ea typeface="Calibri" pitchFamily="34" charset="-122"/>
                <a:cs typeface="Calibri" pitchFamily="34" charset="-120"/>
              </a:rPr>
              <a:t>All resources persisted for future retrieval and reuse.</a:t>
            </a:r>
            <a:endParaRPr lang="en-US" sz="1050" dirty="0"/>
          </a:p>
        </p:txBody>
      </p:sp>
      <p:sp>
        <p:nvSpPr>
          <p:cNvPr id="44" name="Text 4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System Architecture</a:t>
            </a:r>
            <a:endParaRPr lang="en-US" sz="3000" dirty="0"/>
          </a:p>
        </p:txBody>
      </p:sp>
      <p:sp>
        <p:nvSpPr>
          <p:cNvPr id="4" name="Text 2"/>
          <p:cNvSpPr txBox="1"/>
          <p:nvPr/>
        </p:nvSpPr>
        <p:spPr>
          <a:xfrm>
            <a:off x="914400" y="896112"/>
            <a:ext cx="10789920" cy="274320"/>
          </a:xfrm>
          <a:prstGeom prst="rect">
            <a:avLst/>
          </a:prstGeom>
          <a:noFill/>
          <a:ln/>
        </p:spPr>
        <p:txBody>
          <a:bodyPr wrap="square" lIns="0" tIns="0" rIns="0" bIns="0" rtlCol="0" anchor="ctr"/>
          <a:lstStyle/>
          <a:p>
            <a:pPr indent="0" marL="0">
              <a:buNone/>
            </a:pPr>
            <a:r>
              <a:rPr lang="en-US" sz="1250" i="1" dirty="0">
                <a:solidFill>
                  <a:srgbClr val="8A8FA3"/>
                </a:solidFill>
                <a:latin typeface="Calibri" pitchFamily="34" charset="0"/>
                <a:ea typeface="Calibri" pitchFamily="34" charset="-122"/>
                <a:cs typeface="Calibri" pitchFamily="34" charset="-120"/>
              </a:rPr>
              <a:t>Modular REST API following the MVC pattern</a:t>
            </a:r>
            <a:endParaRPr lang="en-US" sz="1250" dirty="0"/>
          </a:p>
        </p:txBody>
      </p:sp>
      <p:sp>
        <p:nvSpPr>
          <p:cNvPr id="5" name="Shape 3"/>
          <p:cNvSpPr/>
          <p:nvPr/>
        </p:nvSpPr>
        <p:spPr>
          <a:xfrm>
            <a:off x="457200" y="1828800"/>
            <a:ext cx="1993392" cy="1554480"/>
          </a:xfrm>
          <a:prstGeom prst="roundRect">
            <a:avLst>
              <a:gd name="adj" fmla="val 5294"/>
            </a:avLst>
          </a:prstGeom>
          <a:solidFill>
            <a:srgbClr val="F4F6FB"/>
          </a:solidFill>
          <a:ln w="9525">
            <a:solidFill>
              <a:srgbClr val="DCE1EE"/>
            </a:solidFill>
            <a:prstDash val="solid"/>
          </a:ln>
        </p:spPr>
      </p:sp>
      <p:sp>
        <p:nvSpPr>
          <p:cNvPr id="6" name="Shape 4"/>
          <p:cNvSpPr/>
          <p:nvPr/>
        </p:nvSpPr>
        <p:spPr>
          <a:xfrm>
            <a:off x="1216152" y="2011680"/>
            <a:ext cx="475488" cy="475488"/>
          </a:xfrm>
          <a:prstGeom prst="ellipse">
            <a:avLst/>
          </a:prstGeom>
          <a:solidFill>
            <a:srgbClr val="1E2761"/>
          </a:solidFill>
          <a:ln w="12700">
            <a:solidFill>
              <a:srgbClr val="1E2761"/>
            </a:solidFill>
            <a:prstDash val="solid"/>
          </a:ln>
        </p:spPr>
      </p:sp>
      <p:sp>
        <p:nvSpPr>
          <p:cNvPr id="7" name="Text 5"/>
          <p:cNvSpPr txBox="1"/>
          <p:nvPr/>
        </p:nvSpPr>
        <p:spPr>
          <a:xfrm>
            <a:off x="1216152" y="201168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a:t>
            </a:r>
            <a:endParaRPr lang="en-US" sz="1200" dirty="0"/>
          </a:p>
        </p:txBody>
      </p:sp>
      <p:sp>
        <p:nvSpPr>
          <p:cNvPr id="8" name="Text 6"/>
          <p:cNvSpPr txBox="1"/>
          <p:nvPr/>
        </p:nvSpPr>
        <p:spPr>
          <a:xfrm>
            <a:off x="548640" y="2578608"/>
            <a:ext cx="1810512"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Client App</a:t>
            </a:r>
            <a:endParaRPr lang="en-US" sz="1250" dirty="0"/>
          </a:p>
        </p:txBody>
      </p:sp>
      <p:sp>
        <p:nvSpPr>
          <p:cNvPr id="9" name="Text 7"/>
          <p:cNvSpPr txBox="1"/>
          <p:nvPr/>
        </p:nvSpPr>
        <p:spPr>
          <a:xfrm>
            <a:off x="548640" y="2889504"/>
            <a:ext cx="1810512" cy="411480"/>
          </a:xfrm>
          <a:prstGeom prst="rect">
            <a:avLst/>
          </a:prstGeom>
          <a:noFill/>
          <a:ln/>
        </p:spPr>
        <p:txBody>
          <a:bodyPr wrap="square" lIns="0" tIns="0" rIns="0" bIns="0" rtlCol="0" anchor="ctr"/>
          <a:lstStyle/>
          <a:p>
            <a:pPr algn="ctr" indent="0" marL="0">
              <a:lnSpc>
                <a:spcPct val="105000"/>
              </a:lnSpc>
              <a:buNone/>
            </a:pPr>
            <a:r>
              <a:rPr lang="en-US" sz="1000" dirty="0">
                <a:solidFill>
                  <a:srgbClr val="33384A"/>
                </a:solidFill>
                <a:latin typeface="Calibri" pitchFamily="34" charset="0"/>
                <a:ea typeface="Calibri" pitchFamily="34" charset="-122"/>
                <a:cs typeface="Calibri" pitchFamily="34" charset="-120"/>
              </a:rPr>
              <a:t>React.js frontend</a:t>
            </a:r>
            <a:endParaRPr lang="en-US" sz="1000" dirty="0"/>
          </a:p>
        </p:txBody>
      </p:sp>
      <p:sp>
        <p:nvSpPr>
          <p:cNvPr id="10" name="Text 8"/>
          <p:cNvSpPr txBox="1"/>
          <p:nvPr/>
        </p:nvSpPr>
        <p:spPr>
          <a:xfrm>
            <a:off x="2450592" y="2286000"/>
            <a:ext cx="320040" cy="457200"/>
          </a:xfrm>
          <a:prstGeom prst="rect">
            <a:avLst/>
          </a:prstGeom>
          <a:noFill/>
          <a:ln/>
        </p:spPr>
        <p:txBody>
          <a:bodyPr wrap="square" lIns="0" tIns="0" rIns="0" bIns="0" rtlCol="0" anchor="ctr"/>
          <a:lstStyle/>
          <a:p>
            <a:pPr algn="ctr" indent="0" marL="0">
              <a:buNone/>
            </a:pPr>
            <a:r>
              <a:rPr lang="en-US" sz="2000" b="1" dirty="0">
                <a:solidFill>
                  <a:srgbClr val="8A8FA3"/>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770632" y="1828800"/>
            <a:ext cx="1993392" cy="1554480"/>
          </a:xfrm>
          <a:prstGeom prst="roundRect">
            <a:avLst>
              <a:gd name="adj" fmla="val 5294"/>
            </a:avLst>
          </a:prstGeom>
          <a:solidFill>
            <a:srgbClr val="F4F6FB"/>
          </a:solidFill>
          <a:ln w="9525">
            <a:solidFill>
              <a:srgbClr val="DCE1EE"/>
            </a:solidFill>
            <a:prstDash val="solid"/>
          </a:ln>
        </p:spPr>
      </p:sp>
      <p:sp>
        <p:nvSpPr>
          <p:cNvPr id="12" name="Shape 10"/>
          <p:cNvSpPr/>
          <p:nvPr/>
        </p:nvSpPr>
        <p:spPr>
          <a:xfrm>
            <a:off x="3529584" y="2011680"/>
            <a:ext cx="475488" cy="475488"/>
          </a:xfrm>
          <a:prstGeom prst="ellipse">
            <a:avLst/>
          </a:prstGeom>
          <a:solidFill>
            <a:srgbClr val="1E2761"/>
          </a:solidFill>
          <a:ln w="12700">
            <a:solidFill>
              <a:srgbClr val="1E2761"/>
            </a:solidFill>
            <a:prstDash val="solid"/>
          </a:ln>
        </p:spPr>
      </p:sp>
      <p:sp>
        <p:nvSpPr>
          <p:cNvPr id="13" name="Text 11"/>
          <p:cNvSpPr txBox="1"/>
          <p:nvPr/>
        </p:nvSpPr>
        <p:spPr>
          <a:xfrm>
            <a:off x="3529584" y="201168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a:t>
            </a:r>
            <a:endParaRPr lang="en-US" sz="1200" dirty="0"/>
          </a:p>
        </p:txBody>
      </p:sp>
      <p:sp>
        <p:nvSpPr>
          <p:cNvPr id="14" name="Text 12"/>
          <p:cNvSpPr txBox="1"/>
          <p:nvPr/>
        </p:nvSpPr>
        <p:spPr>
          <a:xfrm>
            <a:off x="2862072" y="2578608"/>
            <a:ext cx="1810512"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Express Server</a:t>
            </a:r>
            <a:endParaRPr lang="en-US" sz="1250" dirty="0"/>
          </a:p>
        </p:txBody>
      </p:sp>
      <p:sp>
        <p:nvSpPr>
          <p:cNvPr id="15" name="Text 13"/>
          <p:cNvSpPr txBox="1"/>
          <p:nvPr/>
        </p:nvSpPr>
        <p:spPr>
          <a:xfrm>
            <a:off x="2862072" y="2889504"/>
            <a:ext cx="1810512" cy="411480"/>
          </a:xfrm>
          <a:prstGeom prst="rect">
            <a:avLst/>
          </a:prstGeom>
          <a:noFill/>
          <a:ln/>
        </p:spPr>
        <p:txBody>
          <a:bodyPr wrap="square" lIns="0" tIns="0" rIns="0" bIns="0" rtlCol="0" anchor="ctr"/>
          <a:lstStyle/>
          <a:p>
            <a:pPr algn="ctr" indent="0" marL="0">
              <a:lnSpc>
                <a:spcPct val="105000"/>
              </a:lnSpc>
              <a:buNone/>
            </a:pPr>
            <a:r>
              <a:rPr lang="en-US" sz="1000" dirty="0">
                <a:solidFill>
                  <a:srgbClr val="33384A"/>
                </a:solidFill>
                <a:latin typeface="Calibri" pitchFamily="34" charset="0"/>
                <a:ea typeface="Calibri" pitchFamily="34" charset="-122"/>
                <a:cs typeface="Calibri" pitchFamily="34" charset="-120"/>
              </a:rPr>
              <a:t>Routing &amp; middleware</a:t>
            </a:r>
            <a:endParaRPr lang="en-US" sz="1000" dirty="0"/>
          </a:p>
        </p:txBody>
      </p:sp>
      <p:sp>
        <p:nvSpPr>
          <p:cNvPr id="16" name="Text 14"/>
          <p:cNvSpPr txBox="1"/>
          <p:nvPr/>
        </p:nvSpPr>
        <p:spPr>
          <a:xfrm>
            <a:off x="4764024" y="2286000"/>
            <a:ext cx="320040" cy="457200"/>
          </a:xfrm>
          <a:prstGeom prst="rect">
            <a:avLst/>
          </a:prstGeom>
          <a:noFill/>
          <a:ln/>
        </p:spPr>
        <p:txBody>
          <a:bodyPr wrap="square" lIns="0" tIns="0" rIns="0" bIns="0" rtlCol="0" anchor="ctr"/>
          <a:lstStyle/>
          <a:p>
            <a:pPr algn="ctr" indent="0" marL="0">
              <a:buNone/>
            </a:pPr>
            <a:r>
              <a:rPr lang="en-US" sz="2000" b="1" dirty="0">
                <a:solidFill>
                  <a:srgbClr val="8A8FA3"/>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084064" y="1828800"/>
            <a:ext cx="1993392" cy="1554480"/>
          </a:xfrm>
          <a:prstGeom prst="roundRect">
            <a:avLst>
              <a:gd name="adj" fmla="val 5294"/>
            </a:avLst>
          </a:prstGeom>
          <a:solidFill>
            <a:srgbClr val="F4F6FB"/>
          </a:solidFill>
          <a:ln w="9525">
            <a:solidFill>
              <a:srgbClr val="DCE1EE"/>
            </a:solidFill>
            <a:prstDash val="solid"/>
          </a:ln>
        </p:spPr>
      </p:sp>
      <p:sp>
        <p:nvSpPr>
          <p:cNvPr id="18" name="Shape 16"/>
          <p:cNvSpPr/>
          <p:nvPr/>
        </p:nvSpPr>
        <p:spPr>
          <a:xfrm>
            <a:off x="5843016" y="2011680"/>
            <a:ext cx="475488" cy="475488"/>
          </a:xfrm>
          <a:prstGeom prst="ellipse">
            <a:avLst/>
          </a:prstGeom>
          <a:solidFill>
            <a:srgbClr val="1E2761"/>
          </a:solidFill>
          <a:ln w="12700">
            <a:solidFill>
              <a:srgbClr val="1E2761"/>
            </a:solidFill>
            <a:prstDash val="solid"/>
          </a:ln>
        </p:spPr>
      </p:sp>
      <p:sp>
        <p:nvSpPr>
          <p:cNvPr id="19" name="Text 17"/>
          <p:cNvSpPr txBox="1"/>
          <p:nvPr/>
        </p:nvSpPr>
        <p:spPr>
          <a:xfrm>
            <a:off x="5843016" y="201168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a:t>
            </a:r>
            <a:endParaRPr lang="en-US" sz="1200" dirty="0"/>
          </a:p>
        </p:txBody>
      </p:sp>
      <p:sp>
        <p:nvSpPr>
          <p:cNvPr id="20" name="Text 18"/>
          <p:cNvSpPr txBox="1"/>
          <p:nvPr/>
        </p:nvSpPr>
        <p:spPr>
          <a:xfrm>
            <a:off x="5175504" y="2578608"/>
            <a:ext cx="1810512"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Auth Middleware</a:t>
            </a:r>
            <a:endParaRPr lang="en-US" sz="1250" dirty="0"/>
          </a:p>
        </p:txBody>
      </p:sp>
      <p:sp>
        <p:nvSpPr>
          <p:cNvPr id="21" name="Text 19"/>
          <p:cNvSpPr txBox="1"/>
          <p:nvPr/>
        </p:nvSpPr>
        <p:spPr>
          <a:xfrm>
            <a:off x="5175504" y="2889504"/>
            <a:ext cx="1810512" cy="411480"/>
          </a:xfrm>
          <a:prstGeom prst="rect">
            <a:avLst/>
          </a:prstGeom>
          <a:noFill/>
          <a:ln/>
        </p:spPr>
        <p:txBody>
          <a:bodyPr wrap="square" lIns="0" tIns="0" rIns="0" bIns="0" rtlCol="0" anchor="ctr"/>
          <a:lstStyle/>
          <a:p>
            <a:pPr algn="ctr" indent="0" marL="0">
              <a:lnSpc>
                <a:spcPct val="105000"/>
              </a:lnSpc>
              <a:buNone/>
            </a:pPr>
            <a:r>
              <a:rPr lang="en-US" sz="1000" dirty="0">
                <a:solidFill>
                  <a:srgbClr val="33384A"/>
                </a:solidFill>
                <a:latin typeface="Calibri" pitchFamily="34" charset="0"/>
                <a:ea typeface="Calibri" pitchFamily="34" charset="-122"/>
                <a:cs typeface="Calibri" pitchFamily="34" charset="-120"/>
              </a:rPr>
              <a:t>JWT verification, RBAC</a:t>
            </a:r>
            <a:endParaRPr lang="en-US" sz="1000" dirty="0"/>
          </a:p>
        </p:txBody>
      </p:sp>
      <p:sp>
        <p:nvSpPr>
          <p:cNvPr id="22" name="Text 20"/>
          <p:cNvSpPr txBox="1"/>
          <p:nvPr/>
        </p:nvSpPr>
        <p:spPr>
          <a:xfrm>
            <a:off x="7077456" y="2286000"/>
            <a:ext cx="320040" cy="457200"/>
          </a:xfrm>
          <a:prstGeom prst="rect">
            <a:avLst/>
          </a:prstGeom>
          <a:noFill/>
          <a:ln/>
        </p:spPr>
        <p:txBody>
          <a:bodyPr wrap="square" lIns="0" tIns="0" rIns="0" bIns="0" rtlCol="0" anchor="ctr"/>
          <a:lstStyle/>
          <a:p>
            <a:pPr algn="ctr" indent="0" marL="0">
              <a:buNone/>
            </a:pPr>
            <a:r>
              <a:rPr lang="en-US" sz="2000" b="1" dirty="0">
                <a:solidFill>
                  <a:srgbClr val="8A8FA3"/>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7397496" y="1828800"/>
            <a:ext cx="1993392" cy="1554480"/>
          </a:xfrm>
          <a:prstGeom prst="roundRect">
            <a:avLst>
              <a:gd name="adj" fmla="val 5294"/>
            </a:avLst>
          </a:prstGeom>
          <a:solidFill>
            <a:srgbClr val="E4F6F1"/>
          </a:solidFill>
          <a:ln w="9525">
            <a:solidFill>
              <a:srgbClr val="DCE1EE"/>
            </a:solidFill>
            <a:prstDash val="solid"/>
          </a:ln>
        </p:spPr>
      </p:sp>
      <p:sp>
        <p:nvSpPr>
          <p:cNvPr id="24" name="Shape 22"/>
          <p:cNvSpPr/>
          <p:nvPr/>
        </p:nvSpPr>
        <p:spPr>
          <a:xfrm>
            <a:off x="8156448" y="2011680"/>
            <a:ext cx="475488" cy="475488"/>
          </a:xfrm>
          <a:prstGeom prst="ellipse">
            <a:avLst/>
          </a:prstGeom>
          <a:solidFill>
            <a:srgbClr val="1FAE8C"/>
          </a:solidFill>
          <a:ln w="12700">
            <a:solidFill>
              <a:srgbClr val="1FAE8C"/>
            </a:solidFill>
            <a:prstDash val="solid"/>
          </a:ln>
        </p:spPr>
      </p:sp>
      <p:sp>
        <p:nvSpPr>
          <p:cNvPr id="25" name="Text 23"/>
          <p:cNvSpPr txBox="1"/>
          <p:nvPr/>
        </p:nvSpPr>
        <p:spPr>
          <a:xfrm>
            <a:off x="8156448" y="201168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a:t>
            </a:r>
            <a:endParaRPr lang="en-US" sz="1200" dirty="0"/>
          </a:p>
        </p:txBody>
      </p:sp>
      <p:sp>
        <p:nvSpPr>
          <p:cNvPr id="26" name="Text 24"/>
          <p:cNvSpPr txBox="1"/>
          <p:nvPr/>
        </p:nvSpPr>
        <p:spPr>
          <a:xfrm>
            <a:off x="7488936" y="2578608"/>
            <a:ext cx="1810512"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AI Service Layer</a:t>
            </a:r>
            <a:endParaRPr lang="en-US" sz="1250" dirty="0"/>
          </a:p>
        </p:txBody>
      </p:sp>
      <p:sp>
        <p:nvSpPr>
          <p:cNvPr id="27" name="Text 25"/>
          <p:cNvSpPr txBox="1"/>
          <p:nvPr/>
        </p:nvSpPr>
        <p:spPr>
          <a:xfrm>
            <a:off x="7488936" y="2889504"/>
            <a:ext cx="1810512" cy="411480"/>
          </a:xfrm>
          <a:prstGeom prst="rect">
            <a:avLst/>
          </a:prstGeom>
          <a:noFill/>
          <a:ln/>
        </p:spPr>
        <p:txBody>
          <a:bodyPr wrap="square" lIns="0" tIns="0" rIns="0" bIns="0" rtlCol="0" anchor="ctr"/>
          <a:lstStyle/>
          <a:p>
            <a:pPr algn="ctr" indent="0" marL="0">
              <a:lnSpc>
                <a:spcPct val="105000"/>
              </a:lnSpc>
              <a:buNone/>
            </a:pPr>
            <a:r>
              <a:rPr lang="en-US" sz="1000" dirty="0">
                <a:solidFill>
                  <a:srgbClr val="33384A"/>
                </a:solidFill>
                <a:latin typeface="Calibri" pitchFamily="34" charset="0"/>
                <a:ea typeface="Calibri" pitchFamily="34" charset="-122"/>
                <a:cs typeface="Calibri" pitchFamily="34" charset="-120"/>
              </a:rPr>
              <a:t>Google Gemini API calls</a:t>
            </a:r>
            <a:endParaRPr lang="en-US" sz="1000" dirty="0"/>
          </a:p>
        </p:txBody>
      </p:sp>
      <p:sp>
        <p:nvSpPr>
          <p:cNvPr id="28" name="Text 26"/>
          <p:cNvSpPr txBox="1"/>
          <p:nvPr/>
        </p:nvSpPr>
        <p:spPr>
          <a:xfrm>
            <a:off x="9390888" y="2286000"/>
            <a:ext cx="320040" cy="457200"/>
          </a:xfrm>
          <a:prstGeom prst="rect">
            <a:avLst/>
          </a:prstGeom>
          <a:noFill/>
          <a:ln/>
        </p:spPr>
        <p:txBody>
          <a:bodyPr wrap="square" lIns="0" tIns="0" rIns="0" bIns="0" rtlCol="0" anchor="ctr"/>
          <a:lstStyle/>
          <a:p>
            <a:pPr algn="ctr" indent="0" marL="0">
              <a:buNone/>
            </a:pPr>
            <a:r>
              <a:rPr lang="en-US" sz="2000" b="1" dirty="0">
                <a:solidFill>
                  <a:srgbClr val="8A8FA3"/>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710928" y="1828800"/>
            <a:ext cx="1993392" cy="1554480"/>
          </a:xfrm>
          <a:prstGeom prst="roundRect">
            <a:avLst>
              <a:gd name="adj" fmla="val 5294"/>
            </a:avLst>
          </a:prstGeom>
          <a:solidFill>
            <a:srgbClr val="F4F6FB"/>
          </a:solidFill>
          <a:ln w="9525">
            <a:solidFill>
              <a:srgbClr val="DCE1EE"/>
            </a:solidFill>
            <a:prstDash val="solid"/>
          </a:ln>
        </p:spPr>
      </p:sp>
      <p:sp>
        <p:nvSpPr>
          <p:cNvPr id="30" name="Shape 28"/>
          <p:cNvSpPr/>
          <p:nvPr/>
        </p:nvSpPr>
        <p:spPr>
          <a:xfrm>
            <a:off x="10469880" y="2011680"/>
            <a:ext cx="475488" cy="475488"/>
          </a:xfrm>
          <a:prstGeom prst="ellipse">
            <a:avLst/>
          </a:prstGeom>
          <a:solidFill>
            <a:srgbClr val="1E2761"/>
          </a:solidFill>
          <a:ln w="12700">
            <a:solidFill>
              <a:srgbClr val="1E2761"/>
            </a:solidFill>
            <a:prstDash val="solid"/>
          </a:ln>
        </p:spPr>
      </p:sp>
      <p:sp>
        <p:nvSpPr>
          <p:cNvPr id="31" name="Text 29"/>
          <p:cNvSpPr txBox="1"/>
          <p:nvPr/>
        </p:nvSpPr>
        <p:spPr>
          <a:xfrm>
            <a:off x="10469880" y="201168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200" dirty="0"/>
          </a:p>
        </p:txBody>
      </p:sp>
      <p:sp>
        <p:nvSpPr>
          <p:cNvPr id="32" name="Text 30"/>
          <p:cNvSpPr txBox="1"/>
          <p:nvPr/>
        </p:nvSpPr>
        <p:spPr>
          <a:xfrm>
            <a:off x="9802368" y="2578608"/>
            <a:ext cx="1810512"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Database Layer</a:t>
            </a:r>
            <a:endParaRPr lang="en-US" sz="1250" dirty="0"/>
          </a:p>
        </p:txBody>
      </p:sp>
      <p:sp>
        <p:nvSpPr>
          <p:cNvPr id="33" name="Text 31"/>
          <p:cNvSpPr txBox="1"/>
          <p:nvPr/>
        </p:nvSpPr>
        <p:spPr>
          <a:xfrm>
            <a:off x="9802368" y="2889504"/>
            <a:ext cx="1810512" cy="411480"/>
          </a:xfrm>
          <a:prstGeom prst="rect">
            <a:avLst/>
          </a:prstGeom>
          <a:noFill/>
          <a:ln/>
        </p:spPr>
        <p:txBody>
          <a:bodyPr wrap="square" lIns="0" tIns="0" rIns="0" bIns="0" rtlCol="0" anchor="ctr"/>
          <a:lstStyle/>
          <a:p>
            <a:pPr algn="ctr" indent="0" marL="0">
              <a:lnSpc>
                <a:spcPct val="105000"/>
              </a:lnSpc>
              <a:buNone/>
            </a:pPr>
            <a:r>
              <a:rPr lang="en-US" sz="1000" dirty="0">
                <a:solidFill>
                  <a:srgbClr val="33384A"/>
                </a:solidFill>
                <a:latin typeface="Calibri" pitchFamily="34" charset="0"/>
                <a:ea typeface="Calibri" pitchFamily="34" charset="-122"/>
                <a:cs typeface="Calibri" pitchFamily="34" charset="-120"/>
              </a:rPr>
              <a:t>MongoDB + Mongoose</a:t>
            </a:r>
            <a:endParaRPr lang="en-US" sz="1000" dirty="0"/>
          </a:p>
        </p:txBody>
      </p:sp>
      <p:sp>
        <p:nvSpPr>
          <p:cNvPr id="34" name="Text 32"/>
          <p:cNvSpPr txBox="1"/>
          <p:nvPr/>
        </p:nvSpPr>
        <p:spPr>
          <a:xfrm>
            <a:off x="457200" y="3794760"/>
            <a:ext cx="7315200" cy="292608"/>
          </a:xfrm>
          <a:prstGeom prst="rect">
            <a:avLst/>
          </a:prstGeom>
          <a:noFill/>
          <a:ln/>
        </p:spPr>
        <p:txBody>
          <a:bodyPr wrap="square" lIns="0" tIns="0" rIns="0" bIns="0" rtlCol="0" anchor="ctr"/>
          <a:lstStyle/>
          <a:p>
            <a:pPr algn="l" indent="0" marL="0">
              <a:buNone/>
            </a:pPr>
            <a:r>
              <a:rPr lang="en-US" sz="1250" b="1" dirty="0">
                <a:solidFill>
                  <a:srgbClr val="8A8FA3"/>
                </a:solidFill>
                <a:latin typeface="Calibri" pitchFamily="34" charset="0"/>
                <a:ea typeface="Calibri" pitchFamily="34" charset="-122"/>
                <a:cs typeface="Calibri" pitchFamily="34" charset="-120"/>
              </a:rPr>
              <a:t>WHY THIS SEPARATION MATTERS</a:t>
            </a:r>
            <a:endParaRPr lang="en-US" sz="1250" dirty="0"/>
          </a:p>
        </p:txBody>
      </p:sp>
      <p:sp>
        <p:nvSpPr>
          <p:cNvPr id="35" name="Text 33"/>
          <p:cNvSpPr txBox="1"/>
          <p:nvPr/>
        </p:nvSpPr>
        <p:spPr>
          <a:xfrm>
            <a:off x="457200" y="4114800"/>
            <a:ext cx="11247120" cy="1280160"/>
          </a:xfrm>
          <a:prstGeom prst="rect">
            <a:avLst/>
          </a:prstGeom>
          <a:noFill/>
          <a:ln/>
        </p:spPr>
        <p:txBody>
          <a:bodyPr wrap="square" lIns="0" tIns="0" rIns="0" bIns="0" rtlCol="0" anchor="ctr"/>
          <a:lstStyle/>
          <a:p>
            <a:pPr indent="0" marL="0">
              <a:lnSpc>
                <a:spcPct val="120000"/>
              </a:lnSpc>
              <a:buNone/>
            </a:pPr>
            <a:r>
              <a:rPr lang="en-US" sz="1400" dirty="0">
                <a:solidFill>
                  <a:srgbClr val="33384A"/>
                </a:solidFill>
                <a:latin typeface="Calibri" pitchFamily="34" charset="0"/>
                <a:ea typeface="Calibri" pitchFamily="34" charset="-122"/>
                <a:cs typeface="Calibri" pitchFamily="34" charset="-120"/>
              </a:rPr>
              <a:t>Authentication, business logic, AI calls and database access sit in independent modules. Requests flow from the client through Express, get verified by the auth middleware, are handled by route controllers, and only reach the AI or database layers once authorized — keeping the codebase easy to extend, test and debug.</a:t>
            </a:r>
            <a:endParaRPr lang="en-US" sz="1400" dirty="0"/>
          </a:p>
        </p:txBody>
      </p:sp>
      <p:sp>
        <p:nvSpPr>
          <p:cNvPr id="36" name="Text 34"/>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Database Design</a:t>
            </a:r>
            <a:endParaRPr lang="en-US" sz="3000" dirty="0"/>
          </a:p>
        </p:txBody>
      </p:sp>
      <p:sp>
        <p:nvSpPr>
          <p:cNvPr id="4" name="Text 2"/>
          <p:cNvSpPr txBox="1"/>
          <p:nvPr/>
        </p:nvSpPr>
        <p:spPr>
          <a:xfrm>
            <a:off x="914400" y="896112"/>
            <a:ext cx="10789920" cy="274320"/>
          </a:xfrm>
          <a:prstGeom prst="rect">
            <a:avLst/>
          </a:prstGeom>
          <a:noFill/>
          <a:ln/>
        </p:spPr>
        <p:txBody>
          <a:bodyPr wrap="square" lIns="0" tIns="0" rIns="0" bIns="0" rtlCol="0" anchor="ctr"/>
          <a:lstStyle/>
          <a:p>
            <a:pPr indent="0" marL="0">
              <a:buNone/>
            </a:pPr>
            <a:r>
              <a:rPr lang="en-US" sz="1250" i="1" dirty="0">
                <a:solidFill>
                  <a:srgbClr val="8A8FA3"/>
                </a:solidFill>
                <a:latin typeface="Calibri" pitchFamily="34" charset="0"/>
                <a:ea typeface="Calibri" pitchFamily="34" charset="-122"/>
                <a:cs typeface="Calibri" pitchFamily="34" charset="-120"/>
              </a:rPr>
              <a:t>MongoDB collections modeled with Mongoose</a:t>
            </a:r>
            <a:endParaRPr lang="en-US" sz="1250" dirty="0"/>
          </a:p>
        </p:txBody>
      </p:sp>
      <p:sp>
        <p:nvSpPr>
          <p:cNvPr id="5" name="Shape 3"/>
          <p:cNvSpPr/>
          <p:nvPr/>
        </p:nvSpPr>
        <p:spPr>
          <a:xfrm>
            <a:off x="457200" y="1417320"/>
            <a:ext cx="3596640" cy="960120"/>
          </a:xfrm>
          <a:prstGeom prst="roundRect">
            <a:avLst>
              <a:gd name="adj" fmla="val 7619"/>
            </a:avLst>
          </a:prstGeom>
          <a:solidFill>
            <a:srgbClr val="F4F6FB"/>
          </a:solidFill>
          <a:ln w="9525">
            <a:solidFill>
              <a:srgbClr val="DCE1EE"/>
            </a:solidFill>
            <a:prstDash val="solid"/>
          </a:ln>
        </p:spPr>
      </p:sp>
      <p:sp>
        <p:nvSpPr>
          <p:cNvPr id="6" name="Text 4"/>
          <p:cNvSpPr txBox="1"/>
          <p:nvPr/>
        </p:nvSpPr>
        <p:spPr>
          <a:xfrm>
            <a:off x="640080" y="1508760"/>
            <a:ext cx="32308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User</a:t>
            </a:r>
            <a:endParaRPr lang="en-US" sz="1350" dirty="0"/>
          </a:p>
        </p:txBody>
      </p:sp>
      <p:sp>
        <p:nvSpPr>
          <p:cNvPr id="7" name="Text 5"/>
          <p:cNvSpPr txBox="1"/>
          <p:nvPr/>
        </p:nvSpPr>
        <p:spPr>
          <a:xfrm>
            <a:off x="640080" y="1856232"/>
            <a:ext cx="3230880" cy="457200"/>
          </a:xfrm>
          <a:prstGeom prst="rect">
            <a:avLst/>
          </a:prstGeom>
          <a:noFill/>
          <a:ln/>
        </p:spPr>
        <p:txBody>
          <a:bodyPr wrap="square" lIns="0" tIns="0" rIns="0" bIns="0" rtlCol="0" anchor="ctr"/>
          <a:lstStyle/>
          <a:p>
            <a:pPr indent="0" marL="0">
              <a:lnSpc>
                <a:spcPct val="105000"/>
              </a:lnSpc>
              <a:buNone/>
            </a:pPr>
            <a:r>
              <a:rPr lang="en-US" sz="1050" dirty="0">
                <a:solidFill>
                  <a:srgbClr val="33384A"/>
                </a:solidFill>
                <a:latin typeface="Calibri" pitchFamily="34" charset="0"/>
                <a:ea typeface="Calibri" pitchFamily="34" charset="-122"/>
                <a:cs typeface="Calibri" pitchFamily="34" charset="-120"/>
              </a:rPr>
              <a:t>name, email, password (hashed), role</a:t>
            </a:r>
            <a:endParaRPr lang="en-US" sz="1050" dirty="0"/>
          </a:p>
        </p:txBody>
      </p:sp>
      <p:sp>
        <p:nvSpPr>
          <p:cNvPr id="8" name="Shape 6"/>
          <p:cNvSpPr/>
          <p:nvPr/>
        </p:nvSpPr>
        <p:spPr>
          <a:xfrm>
            <a:off x="4282440" y="1417320"/>
            <a:ext cx="3596640" cy="960120"/>
          </a:xfrm>
          <a:prstGeom prst="roundRect">
            <a:avLst>
              <a:gd name="adj" fmla="val 7619"/>
            </a:avLst>
          </a:prstGeom>
          <a:solidFill>
            <a:srgbClr val="F4F6FB"/>
          </a:solidFill>
          <a:ln w="9525">
            <a:solidFill>
              <a:srgbClr val="DCE1EE"/>
            </a:solidFill>
            <a:prstDash val="solid"/>
          </a:ln>
        </p:spPr>
      </p:sp>
      <p:sp>
        <p:nvSpPr>
          <p:cNvPr id="9" name="Text 7"/>
          <p:cNvSpPr txBox="1"/>
          <p:nvPr/>
        </p:nvSpPr>
        <p:spPr>
          <a:xfrm>
            <a:off x="4465320" y="1508760"/>
            <a:ext cx="32308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Study Material</a:t>
            </a:r>
            <a:endParaRPr lang="en-US" sz="1350" dirty="0"/>
          </a:p>
        </p:txBody>
      </p:sp>
      <p:sp>
        <p:nvSpPr>
          <p:cNvPr id="10" name="Text 8"/>
          <p:cNvSpPr txBox="1"/>
          <p:nvPr/>
        </p:nvSpPr>
        <p:spPr>
          <a:xfrm>
            <a:off x="4465320" y="1856232"/>
            <a:ext cx="3230880" cy="457200"/>
          </a:xfrm>
          <a:prstGeom prst="rect">
            <a:avLst/>
          </a:prstGeom>
          <a:noFill/>
          <a:ln/>
        </p:spPr>
        <p:txBody>
          <a:bodyPr wrap="square" lIns="0" tIns="0" rIns="0" bIns="0" rtlCol="0" anchor="ctr"/>
          <a:lstStyle/>
          <a:p>
            <a:pPr indent="0" marL="0">
              <a:lnSpc>
                <a:spcPct val="105000"/>
              </a:lnSpc>
              <a:buNone/>
            </a:pPr>
            <a:r>
              <a:rPr lang="en-US" sz="1050" dirty="0">
                <a:solidFill>
                  <a:srgbClr val="33384A"/>
                </a:solidFill>
                <a:latin typeface="Calibri" pitchFamily="34" charset="0"/>
                <a:ea typeface="Calibri" pitchFamily="34" charset="-122"/>
                <a:cs typeface="Calibri" pitchFamily="34" charset="-120"/>
              </a:rPr>
              <a:t>userId, title, subject, content</a:t>
            </a:r>
            <a:endParaRPr lang="en-US" sz="1050" dirty="0"/>
          </a:p>
        </p:txBody>
      </p:sp>
      <p:sp>
        <p:nvSpPr>
          <p:cNvPr id="11" name="Shape 9"/>
          <p:cNvSpPr/>
          <p:nvPr/>
        </p:nvSpPr>
        <p:spPr>
          <a:xfrm>
            <a:off x="8107680" y="1417320"/>
            <a:ext cx="3596640" cy="960120"/>
          </a:xfrm>
          <a:prstGeom prst="roundRect">
            <a:avLst>
              <a:gd name="adj" fmla="val 7619"/>
            </a:avLst>
          </a:prstGeom>
          <a:solidFill>
            <a:srgbClr val="F4F6FB"/>
          </a:solidFill>
          <a:ln w="9525">
            <a:solidFill>
              <a:srgbClr val="DCE1EE"/>
            </a:solidFill>
            <a:prstDash val="solid"/>
          </a:ln>
        </p:spPr>
      </p:sp>
      <p:sp>
        <p:nvSpPr>
          <p:cNvPr id="12" name="Text 10"/>
          <p:cNvSpPr txBox="1"/>
          <p:nvPr/>
        </p:nvSpPr>
        <p:spPr>
          <a:xfrm>
            <a:off x="8290560" y="1508760"/>
            <a:ext cx="32308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Summary</a:t>
            </a:r>
            <a:endParaRPr lang="en-US" sz="1350" dirty="0"/>
          </a:p>
        </p:txBody>
      </p:sp>
      <p:sp>
        <p:nvSpPr>
          <p:cNvPr id="13" name="Text 11"/>
          <p:cNvSpPr txBox="1"/>
          <p:nvPr/>
        </p:nvSpPr>
        <p:spPr>
          <a:xfrm>
            <a:off x="8290560" y="1856232"/>
            <a:ext cx="3230880" cy="457200"/>
          </a:xfrm>
          <a:prstGeom prst="rect">
            <a:avLst/>
          </a:prstGeom>
          <a:noFill/>
          <a:ln/>
        </p:spPr>
        <p:txBody>
          <a:bodyPr wrap="square" lIns="0" tIns="0" rIns="0" bIns="0" rtlCol="0" anchor="ctr"/>
          <a:lstStyle/>
          <a:p>
            <a:pPr indent="0" marL="0">
              <a:lnSpc>
                <a:spcPct val="105000"/>
              </a:lnSpc>
              <a:buNone/>
            </a:pPr>
            <a:r>
              <a:rPr lang="en-US" sz="1050" dirty="0">
                <a:solidFill>
                  <a:srgbClr val="33384A"/>
                </a:solidFill>
                <a:latin typeface="Calibri" pitchFamily="34" charset="0"/>
                <a:ea typeface="Calibri" pitchFamily="34" charset="-122"/>
                <a:cs typeface="Calibri" pitchFamily="34" charset="-120"/>
              </a:rPr>
              <a:t>userId, materialId, summary</a:t>
            </a:r>
            <a:endParaRPr lang="en-US" sz="1050" dirty="0"/>
          </a:p>
        </p:txBody>
      </p:sp>
      <p:sp>
        <p:nvSpPr>
          <p:cNvPr id="14" name="Shape 12"/>
          <p:cNvSpPr/>
          <p:nvPr/>
        </p:nvSpPr>
        <p:spPr>
          <a:xfrm>
            <a:off x="457200" y="2606040"/>
            <a:ext cx="3596640" cy="960120"/>
          </a:xfrm>
          <a:prstGeom prst="roundRect">
            <a:avLst>
              <a:gd name="adj" fmla="val 7619"/>
            </a:avLst>
          </a:prstGeom>
          <a:solidFill>
            <a:srgbClr val="F4F6FB"/>
          </a:solidFill>
          <a:ln w="9525">
            <a:solidFill>
              <a:srgbClr val="DCE1EE"/>
            </a:solidFill>
            <a:prstDash val="solid"/>
          </a:ln>
        </p:spPr>
      </p:sp>
      <p:sp>
        <p:nvSpPr>
          <p:cNvPr id="15" name="Text 13"/>
          <p:cNvSpPr txBox="1"/>
          <p:nvPr/>
        </p:nvSpPr>
        <p:spPr>
          <a:xfrm>
            <a:off x="640080" y="2697480"/>
            <a:ext cx="32308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Flashcard</a:t>
            </a:r>
            <a:endParaRPr lang="en-US" sz="1350" dirty="0"/>
          </a:p>
        </p:txBody>
      </p:sp>
      <p:sp>
        <p:nvSpPr>
          <p:cNvPr id="16" name="Text 14"/>
          <p:cNvSpPr txBox="1"/>
          <p:nvPr/>
        </p:nvSpPr>
        <p:spPr>
          <a:xfrm>
            <a:off x="640080" y="3044952"/>
            <a:ext cx="3230880" cy="457200"/>
          </a:xfrm>
          <a:prstGeom prst="rect">
            <a:avLst/>
          </a:prstGeom>
          <a:noFill/>
          <a:ln/>
        </p:spPr>
        <p:txBody>
          <a:bodyPr wrap="square" lIns="0" tIns="0" rIns="0" bIns="0" rtlCol="0" anchor="ctr"/>
          <a:lstStyle/>
          <a:p>
            <a:pPr indent="0" marL="0">
              <a:lnSpc>
                <a:spcPct val="105000"/>
              </a:lnSpc>
              <a:buNone/>
            </a:pPr>
            <a:r>
              <a:rPr lang="en-US" sz="1050" dirty="0">
                <a:solidFill>
                  <a:srgbClr val="33384A"/>
                </a:solidFill>
                <a:latin typeface="Calibri" pitchFamily="34" charset="0"/>
                <a:ea typeface="Calibri" pitchFamily="34" charset="-122"/>
                <a:cs typeface="Calibri" pitchFamily="34" charset="-120"/>
              </a:rPr>
              <a:t>userId, materialId, question, answer</a:t>
            </a:r>
            <a:endParaRPr lang="en-US" sz="1050" dirty="0"/>
          </a:p>
        </p:txBody>
      </p:sp>
      <p:sp>
        <p:nvSpPr>
          <p:cNvPr id="17" name="Shape 15"/>
          <p:cNvSpPr/>
          <p:nvPr/>
        </p:nvSpPr>
        <p:spPr>
          <a:xfrm>
            <a:off x="4282440" y="2606040"/>
            <a:ext cx="3596640" cy="960120"/>
          </a:xfrm>
          <a:prstGeom prst="roundRect">
            <a:avLst>
              <a:gd name="adj" fmla="val 7619"/>
            </a:avLst>
          </a:prstGeom>
          <a:solidFill>
            <a:srgbClr val="F4F6FB"/>
          </a:solidFill>
          <a:ln w="9525">
            <a:solidFill>
              <a:srgbClr val="DCE1EE"/>
            </a:solidFill>
            <a:prstDash val="solid"/>
          </a:ln>
        </p:spPr>
      </p:sp>
      <p:sp>
        <p:nvSpPr>
          <p:cNvPr id="18" name="Text 16"/>
          <p:cNvSpPr txBox="1"/>
          <p:nvPr/>
        </p:nvSpPr>
        <p:spPr>
          <a:xfrm>
            <a:off x="4465320" y="2697480"/>
            <a:ext cx="32308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Quiz</a:t>
            </a:r>
            <a:endParaRPr lang="en-US" sz="1350" dirty="0"/>
          </a:p>
        </p:txBody>
      </p:sp>
      <p:sp>
        <p:nvSpPr>
          <p:cNvPr id="19" name="Text 17"/>
          <p:cNvSpPr txBox="1"/>
          <p:nvPr/>
        </p:nvSpPr>
        <p:spPr>
          <a:xfrm>
            <a:off x="4465320" y="3044952"/>
            <a:ext cx="3230880" cy="457200"/>
          </a:xfrm>
          <a:prstGeom prst="rect">
            <a:avLst/>
          </a:prstGeom>
          <a:noFill/>
          <a:ln/>
        </p:spPr>
        <p:txBody>
          <a:bodyPr wrap="square" lIns="0" tIns="0" rIns="0" bIns="0" rtlCol="0" anchor="ctr"/>
          <a:lstStyle/>
          <a:p>
            <a:pPr indent="0" marL="0">
              <a:lnSpc>
                <a:spcPct val="105000"/>
              </a:lnSpc>
              <a:buNone/>
            </a:pPr>
            <a:r>
              <a:rPr lang="en-US" sz="1050" dirty="0">
                <a:solidFill>
                  <a:srgbClr val="33384A"/>
                </a:solidFill>
                <a:latin typeface="Calibri" pitchFamily="34" charset="0"/>
                <a:ea typeface="Calibri" pitchFamily="34" charset="-122"/>
                <a:cs typeface="Calibri" pitchFamily="34" charset="-120"/>
              </a:rPr>
              <a:t>userId, materialId, questions[]</a:t>
            </a:r>
            <a:endParaRPr lang="en-US" sz="1050" dirty="0"/>
          </a:p>
        </p:txBody>
      </p:sp>
      <p:sp>
        <p:nvSpPr>
          <p:cNvPr id="20" name="Shape 18"/>
          <p:cNvSpPr/>
          <p:nvPr/>
        </p:nvSpPr>
        <p:spPr>
          <a:xfrm>
            <a:off x="8107680" y="2606040"/>
            <a:ext cx="3596640" cy="960120"/>
          </a:xfrm>
          <a:prstGeom prst="roundRect">
            <a:avLst>
              <a:gd name="adj" fmla="val 7619"/>
            </a:avLst>
          </a:prstGeom>
          <a:solidFill>
            <a:srgbClr val="F4F6FB"/>
          </a:solidFill>
          <a:ln w="9525">
            <a:solidFill>
              <a:srgbClr val="DCE1EE"/>
            </a:solidFill>
            <a:prstDash val="solid"/>
          </a:ln>
        </p:spPr>
      </p:sp>
      <p:sp>
        <p:nvSpPr>
          <p:cNvPr id="21" name="Text 19"/>
          <p:cNvSpPr txBox="1"/>
          <p:nvPr/>
        </p:nvSpPr>
        <p:spPr>
          <a:xfrm>
            <a:off x="8290560" y="2697480"/>
            <a:ext cx="32308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Study Plan</a:t>
            </a:r>
            <a:endParaRPr lang="en-US" sz="1350" dirty="0"/>
          </a:p>
        </p:txBody>
      </p:sp>
      <p:sp>
        <p:nvSpPr>
          <p:cNvPr id="22" name="Text 20"/>
          <p:cNvSpPr txBox="1"/>
          <p:nvPr/>
        </p:nvSpPr>
        <p:spPr>
          <a:xfrm>
            <a:off x="8290560" y="3044952"/>
            <a:ext cx="3230880" cy="457200"/>
          </a:xfrm>
          <a:prstGeom prst="rect">
            <a:avLst/>
          </a:prstGeom>
          <a:noFill/>
          <a:ln/>
        </p:spPr>
        <p:txBody>
          <a:bodyPr wrap="square" lIns="0" tIns="0" rIns="0" bIns="0" rtlCol="0" anchor="ctr"/>
          <a:lstStyle/>
          <a:p>
            <a:pPr indent="0" marL="0">
              <a:lnSpc>
                <a:spcPct val="105000"/>
              </a:lnSpc>
              <a:buNone/>
            </a:pPr>
            <a:r>
              <a:rPr lang="en-US" sz="1050" dirty="0">
                <a:solidFill>
                  <a:srgbClr val="33384A"/>
                </a:solidFill>
                <a:latin typeface="Calibri" pitchFamily="34" charset="0"/>
                <a:ea typeface="Calibri" pitchFamily="34" charset="-122"/>
                <a:cs typeface="Calibri" pitchFamily="34" charset="-120"/>
              </a:rPr>
              <a:t>userId, studyPlan, examDate</a:t>
            </a:r>
            <a:endParaRPr lang="en-US" sz="1050" dirty="0"/>
          </a:p>
        </p:txBody>
      </p:sp>
      <p:sp>
        <p:nvSpPr>
          <p:cNvPr id="23" name="Text 21"/>
          <p:cNvSpPr txBox="1"/>
          <p:nvPr/>
        </p:nvSpPr>
        <p:spPr>
          <a:xfrm>
            <a:off x="457200" y="3794760"/>
            <a:ext cx="7315200" cy="292608"/>
          </a:xfrm>
          <a:prstGeom prst="rect">
            <a:avLst/>
          </a:prstGeom>
          <a:noFill/>
          <a:ln/>
        </p:spPr>
        <p:txBody>
          <a:bodyPr wrap="square" lIns="0" tIns="0" rIns="0" bIns="0" rtlCol="0" anchor="ctr"/>
          <a:lstStyle/>
          <a:p>
            <a:pPr algn="l" indent="0" marL="0">
              <a:buNone/>
            </a:pPr>
            <a:r>
              <a:rPr lang="en-US" sz="1250" b="1" dirty="0">
                <a:solidFill>
                  <a:srgbClr val="8A8FA3"/>
                </a:solidFill>
                <a:latin typeface="Calibri" pitchFamily="34" charset="0"/>
                <a:ea typeface="Calibri" pitchFamily="34" charset="-122"/>
                <a:cs typeface="Calibri" pitchFamily="34" charset="-120"/>
              </a:rPr>
              <a:t>KEY RELATIONSHIPS</a:t>
            </a:r>
            <a:endParaRPr lang="en-US" sz="1250" dirty="0"/>
          </a:p>
        </p:txBody>
      </p:sp>
      <p:sp>
        <p:nvSpPr>
          <p:cNvPr id="24" name="Text 22"/>
          <p:cNvSpPr txBox="1"/>
          <p:nvPr/>
        </p:nvSpPr>
        <p:spPr>
          <a:xfrm>
            <a:off x="457200" y="4114800"/>
            <a:ext cx="11247120" cy="201168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33384A"/>
                </a:solidFill>
                <a:latin typeface="Calibri" pitchFamily="34" charset="0"/>
                <a:ea typeface="Calibri" pitchFamily="34" charset="-122"/>
                <a:cs typeface="Calibri" pitchFamily="34" charset="-120"/>
              </a:rPr>
              <a:t>User → Study Material : one-to-many</a:t>
            </a:r>
            <a:endParaRPr lang="en-US" sz="1350" dirty="0"/>
          </a:p>
          <a:p>
            <a:pPr marL="228600" indent="-228600">
              <a:spcAft>
                <a:spcPts val="1000"/>
              </a:spcAft>
              <a:buSzPct val="100000"/>
              <a:buChar char="●"/>
            </a:pPr>
            <a:r>
              <a:rPr lang="en-US" sz="1350" dirty="0">
                <a:solidFill>
                  <a:srgbClr val="33384A"/>
                </a:solidFill>
                <a:latin typeface="Calibri" pitchFamily="34" charset="0"/>
                <a:ea typeface="Calibri" pitchFamily="34" charset="-122"/>
                <a:cs typeface="Calibri" pitchFamily="34" charset="-120"/>
              </a:rPr>
              <a:t>Study Material → Summary : one-to-one</a:t>
            </a:r>
            <a:endParaRPr lang="en-US" sz="1350" dirty="0"/>
          </a:p>
          <a:p>
            <a:pPr marL="228600" indent="-228600">
              <a:spcAft>
                <a:spcPts val="1000"/>
              </a:spcAft>
              <a:buSzPct val="100000"/>
              <a:buChar char="●"/>
            </a:pPr>
            <a:r>
              <a:rPr lang="en-US" sz="1350" dirty="0">
                <a:solidFill>
                  <a:srgbClr val="33384A"/>
                </a:solidFill>
                <a:latin typeface="Calibri" pitchFamily="34" charset="0"/>
                <a:ea typeface="Calibri" pitchFamily="34" charset="-122"/>
                <a:cs typeface="Calibri" pitchFamily="34" charset="-120"/>
              </a:rPr>
              <a:t>Study Material → Flashcards : one-to-many</a:t>
            </a:r>
            <a:endParaRPr lang="en-US" sz="1350" dirty="0"/>
          </a:p>
          <a:p>
            <a:pPr marL="228600" indent="-228600">
              <a:spcAft>
                <a:spcPts val="1000"/>
              </a:spcAft>
              <a:buSzPct val="100000"/>
              <a:buChar char="●"/>
            </a:pPr>
            <a:r>
              <a:rPr lang="en-US" sz="1350" dirty="0">
                <a:solidFill>
                  <a:srgbClr val="33384A"/>
                </a:solidFill>
                <a:latin typeface="Calibri" pitchFamily="34" charset="0"/>
                <a:ea typeface="Calibri" pitchFamily="34" charset="-122"/>
                <a:cs typeface="Calibri" pitchFamily="34" charset="-120"/>
              </a:rPr>
              <a:t>Study Material → Quiz : one-to-one</a:t>
            </a:r>
            <a:endParaRPr lang="en-US" sz="1350" dirty="0"/>
          </a:p>
          <a:p>
            <a:pPr marL="228600" indent="-228600">
              <a:spcAft>
                <a:spcPts val="1000"/>
              </a:spcAft>
              <a:buSzPct val="100000"/>
              <a:buChar char="●"/>
            </a:pPr>
            <a:r>
              <a:rPr lang="en-US" sz="1350" dirty="0">
                <a:solidFill>
                  <a:srgbClr val="33384A"/>
                </a:solidFill>
                <a:latin typeface="Calibri" pitchFamily="34" charset="0"/>
                <a:ea typeface="Calibri" pitchFamily="34" charset="-122"/>
                <a:cs typeface="Calibri" pitchFamily="34" charset="-120"/>
              </a:rPr>
              <a:t>User → Study Plan : one-to-many</a:t>
            </a:r>
            <a:endParaRPr lang="en-US" sz="1350" dirty="0"/>
          </a:p>
        </p:txBody>
      </p:sp>
      <p:sp>
        <p:nvSpPr>
          <p:cNvPr id="25" name="Text 23"/>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Project Setup &amp; Running the Server</a:t>
            </a:r>
            <a:endParaRPr lang="en-US" sz="3000" dirty="0"/>
          </a:p>
        </p:txBody>
      </p:sp>
      <p:pic>
        <p:nvPicPr>
          <p:cNvPr id="4" name="Image 0" descr="12206.jpg">    </p:cNvPr>
          <p:cNvPicPr>
            <a:picLocks noChangeAspect="1"/>
          </p:cNvPicPr>
          <p:nvPr/>
        </p:nvPicPr>
        <p:blipFill>
          <a:blip r:embed="rId1"/>
          <a:stretch>
            <a:fillRect/>
          </a:stretch>
        </p:blipFill>
        <p:spPr>
          <a:xfrm>
            <a:off x="457200" y="1417320"/>
            <a:ext cx="5440680" cy="2487168"/>
          </a:xfrm>
          <a:prstGeom prst="rect">
            <a:avLst/>
          </a:prstGeom>
          <a:effectLst>
            <a:outerShdw sx="100000" sy="100000" kx="0" ky="0" algn="bl" rotWithShape="0" blurRad="127000" dist="38100" dir="5400000">
              <a:srgbClr val="1E2761">
                <a:alpha val="28000"/>
              </a:srgbClr>
            </a:outerShdw>
          </a:effectLst>
        </p:spPr>
      </p:pic>
      <p:pic>
        <p:nvPicPr>
          <p:cNvPr id="5" name="Image 1" descr="12207.jpg">    </p:cNvPr>
          <p:cNvPicPr>
            <a:picLocks noChangeAspect="1"/>
          </p:cNvPicPr>
          <p:nvPr/>
        </p:nvPicPr>
        <p:blipFill>
          <a:blip r:embed="rId2"/>
          <a:stretch>
            <a:fillRect/>
          </a:stretch>
        </p:blipFill>
        <p:spPr>
          <a:xfrm>
            <a:off x="6263640" y="1417320"/>
            <a:ext cx="5440680" cy="2487168"/>
          </a:xfrm>
          <a:prstGeom prst="rect">
            <a:avLst/>
          </a:prstGeom>
          <a:effectLst>
            <a:outerShdw sx="100000" sy="100000" kx="0" ky="0" algn="bl" rotWithShape="0" blurRad="127000" dist="38100" dir="5400000">
              <a:srgbClr val="1E2761">
                <a:alpha val="28000"/>
              </a:srgbClr>
            </a:outerShdw>
          </a:effectLst>
        </p:spPr>
      </p:pic>
      <p:sp>
        <p:nvSpPr>
          <p:cNvPr id="6" name="Text 2"/>
          <p:cNvSpPr txBox="1"/>
          <p:nvPr/>
        </p:nvSpPr>
        <p:spPr>
          <a:xfrm>
            <a:off x="457200" y="4014216"/>
            <a:ext cx="5440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1. Installing dependencies</a:t>
            </a:r>
            <a:endParaRPr lang="en-US" sz="1250" dirty="0"/>
          </a:p>
        </p:txBody>
      </p:sp>
      <p:sp>
        <p:nvSpPr>
          <p:cNvPr id="7" name="Text 3"/>
          <p:cNvSpPr txBox="1"/>
          <p:nvPr/>
        </p:nvSpPr>
        <p:spPr>
          <a:xfrm>
            <a:off x="6263640" y="4014216"/>
            <a:ext cx="5440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2. Starting the server</a:t>
            </a:r>
            <a:endParaRPr lang="en-US" sz="1250" dirty="0"/>
          </a:p>
        </p:txBody>
      </p:sp>
      <p:sp>
        <p:nvSpPr>
          <p:cNvPr id="8" name="Text 4"/>
          <p:cNvSpPr txBox="1"/>
          <p:nvPr/>
        </p:nvSpPr>
        <p:spPr>
          <a:xfrm>
            <a:off x="457200" y="4617720"/>
            <a:ext cx="11247120" cy="1371600"/>
          </a:xfrm>
          <a:prstGeom prst="rect">
            <a:avLst/>
          </a:prstGeom>
          <a:noFill/>
          <a:ln/>
        </p:spPr>
        <p:txBody>
          <a:bodyPr wrap="square" lIns="0" tIns="0" rIns="0" bIns="0" rtlCol="0" anchor="ctr"/>
          <a:lstStyle/>
          <a:p>
            <a:pPr indent="0" marL="0">
              <a:lnSpc>
                <a:spcPct val="118000"/>
              </a:lnSpc>
              <a:buNone/>
            </a:pPr>
            <a:r>
              <a:rPr lang="en-US" sz="1350" dirty="0">
                <a:solidFill>
                  <a:srgbClr val="33384A"/>
                </a:solidFill>
                <a:latin typeface="Calibri" pitchFamily="34" charset="0"/>
                <a:ea typeface="Calibri" pitchFamily="34" charset="-122"/>
                <a:cs typeface="Calibri" pitchFamily="34" charset="-120"/>
              </a:rPr>
              <a:t>npm install pulls in Express, Mongoose, JWT, bcrypt, dotenv, multer and the Gemini SDK with zero vulnerabilities. Running npm start launches nodemon, which loads server.js, connects to the MongoDB Atlas cluster, and starts listening on port 5000 — confirming the backend is live and ready for requests.</a:t>
            </a:r>
            <a:endParaRPr lang="en-US" sz="1350" dirty="0"/>
          </a:p>
        </p:txBody>
      </p:sp>
      <p:sp>
        <p:nvSpPr>
          <p:cNvPr id="9" name="Text 5"/>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Environment Configuration</a:t>
            </a:r>
            <a:endParaRPr lang="en-US" sz="3000" dirty="0"/>
          </a:p>
        </p:txBody>
      </p:sp>
      <p:sp>
        <p:nvSpPr>
          <p:cNvPr id="4" name="Text 2"/>
          <p:cNvSpPr txBox="1"/>
          <p:nvPr/>
        </p:nvSpPr>
        <p:spPr>
          <a:xfrm>
            <a:off x="457200" y="1554480"/>
            <a:ext cx="4297680" cy="4572000"/>
          </a:xfrm>
          <a:prstGeom prst="rect">
            <a:avLst/>
          </a:prstGeom>
          <a:noFill/>
          <a:ln/>
        </p:spPr>
        <p:txBody>
          <a:bodyPr wrap="square" lIns="0" tIns="0" rIns="0" bIns="0" rtlCol="0" anchor="t"/>
          <a:lstStyle/>
          <a:p>
            <a:pPr marL="228600" indent="-228600">
              <a:spcAft>
                <a:spcPts val="2000"/>
              </a:spcAft>
              <a:buSzPct val="100000"/>
              <a:buChar char="●"/>
            </a:pPr>
            <a:r>
              <a:rPr lang="en-US" sz="1400" dirty="0">
                <a:solidFill>
                  <a:srgbClr val="33384A"/>
                </a:solidFill>
                <a:latin typeface="Calibri" pitchFamily="34" charset="0"/>
                <a:ea typeface="Calibri" pitchFamily="34" charset="-122"/>
                <a:cs typeface="Calibri" pitchFamily="34" charset="-120"/>
              </a:rPr>
              <a:t>PORT — local port the Express server listens on</a:t>
            </a:r>
            <a:endParaRPr lang="en-US" sz="1400" dirty="0"/>
          </a:p>
          <a:p>
            <a:pPr marL="228600" indent="-228600">
              <a:spcAft>
                <a:spcPts val="2000"/>
              </a:spcAft>
              <a:buSzPct val="100000"/>
              <a:buChar char="●"/>
            </a:pPr>
            <a:r>
              <a:rPr lang="en-US" sz="1400" dirty="0">
                <a:solidFill>
                  <a:srgbClr val="33384A"/>
                </a:solidFill>
                <a:latin typeface="Calibri" pitchFamily="34" charset="0"/>
                <a:ea typeface="Calibri" pitchFamily="34" charset="-122"/>
                <a:cs typeface="Calibri" pitchFamily="34" charset="-120"/>
              </a:rPr>
              <a:t>MONGO_URI — connection string for the MongoDB Atlas cluster</a:t>
            </a:r>
            <a:endParaRPr lang="en-US" sz="1400" dirty="0"/>
          </a:p>
          <a:p>
            <a:pPr marL="228600" indent="-228600">
              <a:spcAft>
                <a:spcPts val="2000"/>
              </a:spcAft>
              <a:buSzPct val="100000"/>
              <a:buChar char="●"/>
            </a:pPr>
            <a:r>
              <a:rPr lang="en-US" sz="1400" dirty="0">
                <a:solidFill>
                  <a:srgbClr val="33384A"/>
                </a:solidFill>
                <a:latin typeface="Calibri" pitchFamily="34" charset="0"/>
                <a:ea typeface="Calibri" pitchFamily="34" charset="-122"/>
                <a:cs typeface="Calibri" pitchFamily="34" charset="-120"/>
              </a:rPr>
              <a:t>JWT_ACCESS_SECRET / JWT_REFRESH_SECRET — signing keys for access &amp; refresh tokens</a:t>
            </a:r>
            <a:endParaRPr lang="en-US" sz="1400" dirty="0"/>
          </a:p>
          <a:p>
            <a:pPr marL="228600" indent="-228600">
              <a:spcAft>
                <a:spcPts val="2000"/>
              </a:spcAft>
              <a:buSzPct val="100000"/>
              <a:buChar char="●"/>
            </a:pPr>
            <a:r>
              <a:rPr lang="en-US" sz="1400" dirty="0">
                <a:solidFill>
                  <a:srgbClr val="33384A"/>
                </a:solidFill>
                <a:latin typeface="Calibri" pitchFamily="34" charset="0"/>
                <a:ea typeface="Calibri" pitchFamily="34" charset="-122"/>
                <a:cs typeface="Calibri" pitchFamily="34" charset="-120"/>
              </a:rPr>
              <a:t>GEMINI_API_KEY — credential for calling the Google Gemini API</a:t>
            </a:r>
            <a:endParaRPr lang="en-US" sz="1400" dirty="0"/>
          </a:p>
          <a:p>
            <a:pPr marL="228600" indent="-228600">
              <a:spcAft>
                <a:spcPts val="2000"/>
              </a:spcAft>
              <a:buSzPct val="100000"/>
              <a:buChar char="●"/>
            </a:pPr>
            <a:r>
              <a:rPr lang="en-US" sz="1400" dirty="0">
                <a:solidFill>
                  <a:srgbClr val="33384A"/>
                </a:solidFill>
                <a:latin typeface="Calibri" pitchFamily="34" charset="0"/>
                <a:ea typeface="Calibri" pitchFamily="34" charset="-122"/>
                <a:cs typeface="Calibri" pitchFamily="34" charset="-120"/>
              </a:rPr>
              <a:t>NODE_ENV — runtime mode (development / production)</a:t>
            </a:r>
            <a:endParaRPr lang="en-US" sz="1400" dirty="0"/>
          </a:p>
        </p:txBody>
      </p:sp>
      <p:pic>
        <p:nvPicPr>
          <p:cNvPr id="5" name="Image 0" descr="12205.jpg">    </p:cNvPr>
          <p:cNvPicPr>
            <a:picLocks noChangeAspect="1"/>
          </p:cNvPicPr>
          <p:nvPr/>
        </p:nvPicPr>
        <p:blipFill>
          <a:blip r:embed="rId1"/>
          <a:stretch>
            <a:fillRect/>
          </a:stretch>
        </p:blipFill>
        <p:spPr>
          <a:xfrm>
            <a:off x="5074920" y="1828800"/>
            <a:ext cx="6492240" cy="2967881"/>
          </a:xfrm>
          <a:prstGeom prst="rect">
            <a:avLst/>
          </a:prstGeom>
          <a:effectLst>
            <a:outerShdw sx="100000" sy="100000" kx="0" ky="0" algn="bl" rotWithShape="0" blurRad="127000" dist="38100" dir="5400000">
              <a:srgbClr val="1E2761">
                <a:alpha val="28000"/>
              </a:srgbClr>
            </a:outerShdw>
          </a:effectLst>
        </p:spPr>
      </p:pic>
      <p:sp>
        <p:nvSpPr>
          <p:cNvPr id="6" name="Text 3"/>
          <p:cNvSpPr txBox="1"/>
          <p:nvPr/>
        </p:nvSpPr>
        <p:spPr>
          <a:xfrm>
            <a:off x="5074920" y="4906409"/>
            <a:ext cx="649224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.env file — Code Files</a:t>
            </a:r>
            <a:endParaRPr lang="en-US" sz="1250" dirty="0"/>
          </a:p>
        </p:txBody>
      </p:sp>
      <p:sp>
        <p:nvSpPr>
          <p:cNvPr id="7" name="Text 4"/>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API Testing — User Registration</a:t>
            </a:r>
            <a:endParaRPr lang="en-US" sz="3000" dirty="0"/>
          </a:p>
        </p:txBody>
      </p:sp>
      <p:sp>
        <p:nvSpPr>
          <p:cNvPr id="4" name="Text 2"/>
          <p:cNvSpPr txBox="1"/>
          <p:nvPr/>
        </p:nvSpPr>
        <p:spPr>
          <a:xfrm>
            <a:off x="914400" y="896112"/>
            <a:ext cx="10789920" cy="274320"/>
          </a:xfrm>
          <a:prstGeom prst="rect">
            <a:avLst/>
          </a:prstGeom>
          <a:noFill/>
          <a:ln/>
        </p:spPr>
        <p:txBody>
          <a:bodyPr wrap="square" lIns="0" tIns="0" rIns="0" bIns="0" rtlCol="0" anchor="ctr"/>
          <a:lstStyle/>
          <a:p>
            <a:pPr indent="0" marL="0">
              <a:buNone/>
            </a:pPr>
            <a:r>
              <a:rPr lang="en-US" sz="1250" i="1" dirty="0">
                <a:solidFill>
                  <a:srgbClr val="8A8FA3"/>
                </a:solidFill>
                <a:latin typeface="Calibri" pitchFamily="34" charset="0"/>
                <a:ea typeface="Calibri" pitchFamily="34" charset="-122"/>
                <a:cs typeface="Calibri" pitchFamily="34" charset="-120"/>
              </a:rPr>
              <a:t>POST /api/auth/register</a:t>
            </a:r>
            <a:endParaRPr lang="en-US" sz="1250" dirty="0"/>
          </a:p>
        </p:txBody>
      </p:sp>
      <p:pic>
        <p:nvPicPr>
          <p:cNvPr id="5" name="Image 0" descr="12215.jpg">    </p:cNvPr>
          <p:cNvPicPr>
            <a:picLocks noChangeAspect="1"/>
          </p:cNvPicPr>
          <p:nvPr/>
        </p:nvPicPr>
        <p:blipFill>
          <a:blip r:embed="rId1"/>
          <a:stretch>
            <a:fillRect/>
          </a:stretch>
        </p:blipFill>
        <p:spPr>
          <a:xfrm>
            <a:off x="457200" y="1417320"/>
            <a:ext cx="5440680" cy="2487168"/>
          </a:xfrm>
          <a:prstGeom prst="rect">
            <a:avLst/>
          </a:prstGeom>
          <a:effectLst>
            <a:outerShdw sx="100000" sy="100000" kx="0" ky="0" algn="bl" rotWithShape="0" blurRad="127000" dist="38100" dir="5400000">
              <a:srgbClr val="1E2761">
                <a:alpha val="28000"/>
              </a:srgbClr>
            </a:outerShdw>
          </a:effectLst>
        </p:spPr>
      </p:pic>
      <p:pic>
        <p:nvPicPr>
          <p:cNvPr id="6" name="Image 1" descr="12208.jpg">    </p:cNvPr>
          <p:cNvPicPr>
            <a:picLocks noChangeAspect="1"/>
          </p:cNvPicPr>
          <p:nvPr/>
        </p:nvPicPr>
        <p:blipFill>
          <a:blip r:embed="rId2"/>
          <a:stretch>
            <a:fillRect/>
          </a:stretch>
        </p:blipFill>
        <p:spPr>
          <a:xfrm>
            <a:off x="6263640" y="1417320"/>
            <a:ext cx="5440680" cy="2487168"/>
          </a:xfrm>
          <a:prstGeom prst="rect">
            <a:avLst/>
          </a:prstGeom>
          <a:effectLst>
            <a:outerShdw sx="100000" sy="100000" kx="0" ky="0" algn="bl" rotWithShape="0" blurRad="127000" dist="38100" dir="5400000">
              <a:srgbClr val="1E2761">
                <a:alpha val="28000"/>
              </a:srgbClr>
            </a:outerShdw>
          </a:effectLst>
        </p:spPr>
      </p:pic>
      <p:sp>
        <p:nvSpPr>
          <p:cNvPr id="7" name="Text 3"/>
          <p:cNvSpPr txBox="1"/>
          <p:nvPr/>
        </p:nvSpPr>
        <p:spPr>
          <a:xfrm>
            <a:off x="457200" y="4014216"/>
            <a:ext cx="5440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Admin account</a:t>
            </a:r>
            <a:endParaRPr lang="en-US" sz="1250" dirty="0"/>
          </a:p>
        </p:txBody>
      </p:sp>
      <p:sp>
        <p:nvSpPr>
          <p:cNvPr id="8" name="Text 4"/>
          <p:cNvSpPr txBox="1"/>
          <p:nvPr/>
        </p:nvSpPr>
        <p:spPr>
          <a:xfrm>
            <a:off x="6263640" y="4014216"/>
            <a:ext cx="5440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Student account</a:t>
            </a:r>
            <a:endParaRPr lang="en-US" sz="1250" dirty="0"/>
          </a:p>
        </p:txBody>
      </p:sp>
      <p:sp>
        <p:nvSpPr>
          <p:cNvPr id="9" name="Shape 5"/>
          <p:cNvSpPr/>
          <p:nvPr/>
        </p:nvSpPr>
        <p:spPr>
          <a:xfrm>
            <a:off x="2377440" y="3995928"/>
            <a:ext cx="946404" cy="292608"/>
          </a:xfrm>
          <a:prstGeom prst="roundRect">
            <a:avLst>
              <a:gd name="adj" fmla="val 50000"/>
            </a:avLst>
          </a:prstGeom>
          <a:solidFill>
            <a:srgbClr val="E4F6F1"/>
          </a:solidFill>
          <a:ln w="12700">
            <a:solidFill>
              <a:srgbClr val="1FAE8C"/>
            </a:solidFill>
            <a:prstDash val="solid"/>
          </a:ln>
        </p:spPr>
      </p:sp>
      <p:sp>
        <p:nvSpPr>
          <p:cNvPr id="10" name="Text 6"/>
          <p:cNvSpPr txBox="1"/>
          <p:nvPr/>
        </p:nvSpPr>
        <p:spPr>
          <a:xfrm>
            <a:off x="2377440" y="3995928"/>
            <a:ext cx="946404" cy="292608"/>
          </a:xfrm>
          <a:prstGeom prst="rect">
            <a:avLst/>
          </a:prstGeom>
          <a:noFill/>
          <a:ln/>
        </p:spPr>
        <p:txBody>
          <a:bodyPr wrap="square" lIns="0" tIns="0" rIns="0" bIns="0" rtlCol="0" anchor="ctr"/>
          <a:lstStyle/>
          <a:p>
            <a:pPr algn="ctr" indent="0" marL="0">
              <a:buNone/>
            </a:pPr>
            <a:r>
              <a:rPr lang="en-US" sz="1050" b="1" dirty="0">
                <a:solidFill>
                  <a:srgbClr val="0C7A5E"/>
                </a:solidFill>
                <a:latin typeface="Calibri" pitchFamily="34" charset="0"/>
                <a:ea typeface="Calibri" pitchFamily="34" charset="-122"/>
                <a:cs typeface="Calibri" pitchFamily="34" charset="-120"/>
              </a:rPr>
              <a:t>201 Created</a:t>
            </a:r>
            <a:endParaRPr lang="en-US" sz="1050" dirty="0"/>
          </a:p>
        </p:txBody>
      </p:sp>
      <p:sp>
        <p:nvSpPr>
          <p:cNvPr id="11" name="Shape 7"/>
          <p:cNvSpPr/>
          <p:nvPr/>
        </p:nvSpPr>
        <p:spPr>
          <a:xfrm>
            <a:off x="8183880" y="3995928"/>
            <a:ext cx="946404" cy="292608"/>
          </a:xfrm>
          <a:prstGeom prst="roundRect">
            <a:avLst>
              <a:gd name="adj" fmla="val 50000"/>
            </a:avLst>
          </a:prstGeom>
          <a:solidFill>
            <a:srgbClr val="E4F6F1"/>
          </a:solidFill>
          <a:ln w="12700">
            <a:solidFill>
              <a:srgbClr val="1FAE8C"/>
            </a:solidFill>
            <a:prstDash val="solid"/>
          </a:ln>
        </p:spPr>
      </p:sp>
      <p:sp>
        <p:nvSpPr>
          <p:cNvPr id="12" name="Text 8"/>
          <p:cNvSpPr txBox="1"/>
          <p:nvPr/>
        </p:nvSpPr>
        <p:spPr>
          <a:xfrm>
            <a:off x="8183880" y="3995928"/>
            <a:ext cx="946404" cy="292608"/>
          </a:xfrm>
          <a:prstGeom prst="rect">
            <a:avLst/>
          </a:prstGeom>
          <a:noFill/>
          <a:ln/>
        </p:spPr>
        <p:txBody>
          <a:bodyPr wrap="square" lIns="0" tIns="0" rIns="0" bIns="0" rtlCol="0" anchor="ctr"/>
          <a:lstStyle/>
          <a:p>
            <a:pPr algn="ctr" indent="0" marL="0">
              <a:buNone/>
            </a:pPr>
            <a:r>
              <a:rPr lang="en-US" sz="1050" b="1" dirty="0">
                <a:solidFill>
                  <a:srgbClr val="0C7A5E"/>
                </a:solidFill>
                <a:latin typeface="Calibri" pitchFamily="34" charset="0"/>
                <a:ea typeface="Calibri" pitchFamily="34" charset="-122"/>
                <a:cs typeface="Calibri" pitchFamily="34" charset="-120"/>
              </a:rPr>
              <a:t>201 Created</a:t>
            </a:r>
            <a:endParaRPr lang="en-US" sz="1050" dirty="0"/>
          </a:p>
        </p:txBody>
      </p:sp>
      <p:sp>
        <p:nvSpPr>
          <p:cNvPr id="13" name="Text 9"/>
          <p:cNvSpPr txBox="1"/>
          <p:nvPr/>
        </p:nvSpPr>
        <p:spPr>
          <a:xfrm>
            <a:off x="457200" y="4617720"/>
            <a:ext cx="11247120" cy="1371600"/>
          </a:xfrm>
          <a:prstGeom prst="rect">
            <a:avLst/>
          </a:prstGeom>
          <a:noFill/>
          <a:ln/>
        </p:spPr>
        <p:txBody>
          <a:bodyPr wrap="square" lIns="0" tIns="0" rIns="0" bIns="0" rtlCol="0" anchor="ctr"/>
          <a:lstStyle/>
          <a:p>
            <a:pPr indent="0" marL="0">
              <a:lnSpc>
                <a:spcPct val="118000"/>
              </a:lnSpc>
              <a:buNone/>
            </a:pPr>
            <a:r>
              <a:rPr lang="en-US" sz="1350" dirty="0">
                <a:solidFill>
                  <a:srgbClr val="33384A"/>
                </a:solidFill>
                <a:latin typeface="Calibri" pitchFamily="34" charset="0"/>
                <a:ea typeface="Calibri" pitchFamily="34" charset="-122"/>
                <a:cs typeface="Calibri" pitchFamily="34" charset="-120"/>
              </a:rPr>
              <a:t>The register endpoint accepts a name, email, password and role. Passwords are hashed with bcrypt before they ever touch the database, and a signed access + refresh token pair is returned immediately — shown here creating both an admin and a student account.</a:t>
            </a:r>
            <a:endParaRPr lang="en-US" sz="1350" dirty="0"/>
          </a:p>
        </p:txBody>
      </p:sp>
      <p:sp>
        <p:nvSpPr>
          <p:cNvPr id="14" name="Text 10"/>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API Testing — User Login</a:t>
            </a:r>
            <a:endParaRPr lang="en-US" sz="3000" dirty="0"/>
          </a:p>
        </p:txBody>
      </p:sp>
      <p:sp>
        <p:nvSpPr>
          <p:cNvPr id="4" name="Text 2"/>
          <p:cNvSpPr txBox="1"/>
          <p:nvPr/>
        </p:nvSpPr>
        <p:spPr>
          <a:xfrm>
            <a:off x="914400" y="896112"/>
            <a:ext cx="10789920" cy="274320"/>
          </a:xfrm>
          <a:prstGeom prst="rect">
            <a:avLst/>
          </a:prstGeom>
          <a:noFill/>
          <a:ln/>
        </p:spPr>
        <p:txBody>
          <a:bodyPr wrap="square" lIns="0" tIns="0" rIns="0" bIns="0" rtlCol="0" anchor="ctr"/>
          <a:lstStyle/>
          <a:p>
            <a:pPr indent="0" marL="0">
              <a:buNone/>
            </a:pPr>
            <a:r>
              <a:rPr lang="en-US" sz="1250" i="1" dirty="0">
                <a:solidFill>
                  <a:srgbClr val="8A8FA3"/>
                </a:solidFill>
                <a:latin typeface="Calibri" pitchFamily="34" charset="0"/>
                <a:ea typeface="Calibri" pitchFamily="34" charset="-122"/>
                <a:cs typeface="Calibri" pitchFamily="34" charset="-120"/>
              </a:rPr>
              <a:t>POST /api/auth/login</a:t>
            </a:r>
            <a:endParaRPr lang="en-US" sz="1250" dirty="0"/>
          </a:p>
        </p:txBody>
      </p:sp>
      <p:sp>
        <p:nvSpPr>
          <p:cNvPr id="5" name="Text 3"/>
          <p:cNvSpPr txBox="1"/>
          <p:nvPr/>
        </p:nvSpPr>
        <p:spPr>
          <a:xfrm>
            <a:off x="457200" y="1737360"/>
            <a:ext cx="4206240" cy="3200400"/>
          </a:xfrm>
          <a:prstGeom prst="rect">
            <a:avLst/>
          </a:prstGeom>
          <a:noFill/>
          <a:ln/>
        </p:spPr>
        <p:txBody>
          <a:bodyPr wrap="square" lIns="0" tIns="0" rIns="0" bIns="0" rtlCol="0" anchor="t"/>
          <a:lstStyle/>
          <a:p>
            <a:pPr marL="228600" indent="-228600">
              <a:spcAft>
                <a:spcPts val="1800"/>
              </a:spcAft>
              <a:buSzPct val="100000"/>
              <a:buChar char="●"/>
            </a:pPr>
            <a:r>
              <a:rPr lang="en-US" sz="1450" dirty="0">
                <a:solidFill>
                  <a:srgbClr val="33384A"/>
                </a:solidFill>
                <a:latin typeface="Calibri" pitchFamily="34" charset="0"/>
                <a:ea typeface="Calibri" pitchFamily="34" charset="-122"/>
                <a:cs typeface="Calibri" pitchFamily="34" charset="-120"/>
              </a:rPr>
              <a:t>Student submits registered email and password</a:t>
            </a:r>
            <a:endParaRPr lang="en-US" sz="1450" dirty="0"/>
          </a:p>
          <a:p>
            <a:pPr marL="228600" indent="-228600">
              <a:spcAft>
                <a:spcPts val="1800"/>
              </a:spcAft>
              <a:buSzPct val="100000"/>
              <a:buChar char="●"/>
            </a:pPr>
            <a:r>
              <a:rPr lang="en-US" sz="1450" dirty="0">
                <a:solidFill>
                  <a:srgbClr val="33384A"/>
                </a:solidFill>
                <a:latin typeface="Calibri" pitchFamily="34" charset="0"/>
                <a:ea typeface="Calibri" pitchFamily="34" charset="-122"/>
                <a:cs typeface="Calibri" pitchFamily="34" charset="-120"/>
              </a:rPr>
              <a:t>Server verifies the bcrypt-hashed password</a:t>
            </a:r>
            <a:endParaRPr lang="en-US" sz="1450" dirty="0"/>
          </a:p>
          <a:p>
            <a:pPr marL="228600" indent="-228600">
              <a:spcAft>
                <a:spcPts val="1800"/>
              </a:spcAft>
              <a:buSzPct val="100000"/>
              <a:buChar char="●"/>
            </a:pPr>
            <a:r>
              <a:rPr lang="en-US" sz="1450" dirty="0">
                <a:solidFill>
                  <a:srgbClr val="33384A"/>
                </a:solidFill>
                <a:latin typeface="Calibri" pitchFamily="34" charset="0"/>
                <a:ea typeface="Calibri" pitchFamily="34" charset="-122"/>
                <a:cs typeface="Calibri" pitchFamily="34" charset="-120"/>
              </a:rPr>
              <a:t>A fresh JWT access token and refresh token are issued</a:t>
            </a:r>
            <a:endParaRPr lang="en-US" sz="1450" dirty="0"/>
          </a:p>
          <a:p>
            <a:pPr marL="228600" indent="-228600">
              <a:spcAft>
                <a:spcPts val="1800"/>
              </a:spcAft>
              <a:buSzPct val="100000"/>
              <a:buChar char="●"/>
            </a:pPr>
            <a:r>
              <a:rPr lang="en-US" sz="1450" dirty="0">
                <a:solidFill>
                  <a:srgbClr val="33384A"/>
                </a:solidFill>
                <a:latin typeface="Calibri" pitchFamily="34" charset="0"/>
                <a:ea typeface="Calibri" pitchFamily="34" charset="-122"/>
                <a:cs typeface="Calibri" pitchFamily="34" charset="-120"/>
              </a:rPr>
              <a:t>The response also returns the user's id, name and role</a:t>
            </a:r>
            <a:endParaRPr lang="en-US" sz="1450" dirty="0"/>
          </a:p>
        </p:txBody>
      </p:sp>
      <p:pic>
        <p:nvPicPr>
          <p:cNvPr id="6" name="Image 0" descr="12209.jpg">    </p:cNvPr>
          <p:cNvPicPr>
            <a:picLocks noChangeAspect="1"/>
          </p:cNvPicPr>
          <p:nvPr/>
        </p:nvPicPr>
        <p:blipFill>
          <a:blip r:embed="rId1"/>
          <a:stretch>
            <a:fillRect/>
          </a:stretch>
        </p:blipFill>
        <p:spPr>
          <a:xfrm>
            <a:off x="4937760" y="1463040"/>
            <a:ext cx="6583680" cy="3009682"/>
          </a:xfrm>
          <a:prstGeom prst="rect">
            <a:avLst/>
          </a:prstGeom>
          <a:effectLst>
            <a:outerShdw sx="100000" sy="100000" kx="0" ky="0" algn="bl" rotWithShape="0" blurRad="127000" dist="38100" dir="5400000">
              <a:srgbClr val="1E2761">
                <a:alpha val="28000"/>
              </a:srgbClr>
            </a:outerShdw>
          </a:effectLst>
        </p:spPr>
      </p:pic>
      <p:sp>
        <p:nvSpPr>
          <p:cNvPr id="7" name="Text 4"/>
          <p:cNvSpPr txBox="1"/>
          <p:nvPr/>
        </p:nvSpPr>
        <p:spPr>
          <a:xfrm>
            <a:off x="4937760" y="4582450"/>
            <a:ext cx="6583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Login response with access &amp; refresh tokens</a:t>
            </a:r>
            <a:endParaRPr lang="en-US" sz="1250" dirty="0"/>
          </a:p>
        </p:txBody>
      </p:sp>
      <p:sp>
        <p:nvSpPr>
          <p:cNvPr id="8" name="Shape 5"/>
          <p:cNvSpPr/>
          <p:nvPr/>
        </p:nvSpPr>
        <p:spPr>
          <a:xfrm>
            <a:off x="10332720" y="4564162"/>
            <a:ext cx="557784" cy="292608"/>
          </a:xfrm>
          <a:prstGeom prst="roundRect">
            <a:avLst>
              <a:gd name="adj" fmla="val 50000"/>
            </a:avLst>
          </a:prstGeom>
          <a:solidFill>
            <a:srgbClr val="E4F6F1"/>
          </a:solidFill>
          <a:ln w="12700">
            <a:solidFill>
              <a:srgbClr val="1FAE8C"/>
            </a:solidFill>
            <a:prstDash val="solid"/>
          </a:ln>
        </p:spPr>
      </p:sp>
      <p:sp>
        <p:nvSpPr>
          <p:cNvPr id="9" name="Text 6"/>
          <p:cNvSpPr txBox="1"/>
          <p:nvPr/>
        </p:nvSpPr>
        <p:spPr>
          <a:xfrm>
            <a:off x="10332720" y="4564162"/>
            <a:ext cx="557784" cy="292608"/>
          </a:xfrm>
          <a:prstGeom prst="rect">
            <a:avLst/>
          </a:prstGeom>
          <a:noFill/>
          <a:ln/>
        </p:spPr>
        <p:txBody>
          <a:bodyPr wrap="square" lIns="0" tIns="0" rIns="0" bIns="0" rtlCol="0" anchor="ctr"/>
          <a:lstStyle/>
          <a:p>
            <a:pPr algn="ctr" indent="0" marL="0">
              <a:buNone/>
            </a:pPr>
            <a:r>
              <a:rPr lang="en-US" sz="1050" b="1" dirty="0">
                <a:solidFill>
                  <a:srgbClr val="0C7A5E"/>
                </a:solidFill>
                <a:latin typeface="Calibri" pitchFamily="34" charset="0"/>
                <a:ea typeface="Calibri" pitchFamily="34" charset="-122"/>
                <a:cs typeface="Calibri" pitchFamily="34" charset="-120"/>
              </a:rPr>
              <a:t>200 OK</a:t>
            </a:r>
            <a:endParaRPr lang="en-US" sz="1050" dirty="0"/>
          </a:p>
        </p:txBody>
      </p:sp>
      <p:sp>
        <p:nvSpPr>
          <p:cNvPr id="10" name="Text 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API Testing — Study Material Upload</a:t>
            </a:r>
            <a:endParaRPr lang="en-US" sz="3000" dirty="0"/>
          </a:p>
        </p:txBody>
      </p:sp>
      <p:sp>
        <p:nvSpPr>
          <p:cNvPr id="4" name="Text 2"/>
          <p:cNvSpPr txBox="1"/>
          <p:nvPr/>
        </p:nvSpPr>
        <p:spPr>
          <a:xfrm>
            <a:off x="914400" y="896112"/>
            <a:ext cx="10789920" cy="274320"/>
          </a:xfrm>
          <a:prstGeom prst="rect">
            <a:avLst/>
          </a:prstGeom>
          <a:noFill/>
          <a:ln/>
        </p:spPr>
        <p:txBody>
          <a:bodyPr wrap="square" lIns="0" tIns="0" rIns="0" bIns="0" rtlCol="0" anchor="ctr"/>
          <a:lstStyle/>
          <a:p>
            <a:pPr indent="0" marL="0">
              <a:buNone/>
            </a:pPr>
            <a:r>
              <a:rPr lang="en-US" sz="1250" i="1" dirty="0">
                <a:solidFill>
                  <a:srgbClr val="8A8FA3"/>
                </a:solidFill>
                <a:latin typeface="Calibri" pitchFamily="34" charset="0"/>
                <a:ea typeface="Calibri" pitchFamily="34" charset="-122"/>
                <a:cs typeface="Calibri" pitchFamily="34" charset="-120"/>
              </a:rPr>
              <a:t>POST /api/materials/upload</a:t>
            </a:r>
            <a:endParaRPr lang="en-US" sz="1250" dirty="0"/>
          </a:p>
        </p:txBody>
      </p:sp>
      <p:sp>
        <p:nvSpPr>
          <p:cNvPr id="5" name="Text 3"/>
          <p:cNvSpPr txBox="1"/>
          <p:nvPr/>
        </p:nvSpPr>
        <p:spPr>
          <a:xfrm>
            <a:off x="457200" y="1737360"/>
            <a:ext cx="4206240" cy="3200400"/>
          </a:xfrm>
          <a:prstGeom prst="rect">
            <a:avLst/>
          </a:prstGeom>
          <a:noFill/>
          <a:ln/>
        </p:spPr>
        <p:txBody>
          <a:bodyPr wrap="square" lIns="0" tIns="0" rIns="0" bIns="0" rtlCol="0" anchor="t"/>
          <a:lstStyle/>
          <a:p>
            <a:pPr marL="228600" indent="-228600">
              <a:spcAft>
                <a:spcPts val="1800"/>
              </a:spcAft>
              <a:buSzPct val="100000"/>
              <a:buChar char="●"/>
            </a:pPr>
            <a:r>
              <a:rPr lang="en-US" sz="1450" dirty="0">
                <a:solidFill>
                  <a:srgbClr val="33384A"/>
                </a:solidFill>
                <a:latin typeface="Calibri" pitchFamily="34" charset="0"/>
                <a:ea typeface="Calibri" pitchFamily="34" charset="-122"/>
                <a:cs typeface="Calibri" pitchFamily="34" charset="-120"/>
              </a:rPr>
              <a:t>Authenticated student uploads a study file (cs.txt)</a:t>
            </a:r>
            <a:endParaRPr lang="en-US" sz="1450" dirty="0"/>
          </a:p>
          <a:p>
            <a:pPr marL="228600" indent="-228600">
              <a:spcAft>
                <a:spcPts val="1800"/>
              </a:spcAft>
              <a:buSzPct val="100000"/>
              <a:buChar char="●"/>
            </a:pPr>
            <a:r>
              <a:rPr lang="en-US" sz="1450" dirty="0">
                <a:solidFill>
                  <a:srgbClr val="33384A"/>
                </a:solidFill>
                <a:latin typeface="Calibri" pitchFamily="34" charset="0"/>
                <a:ea typeface="Calibri" pitchFamily="34" charset="-122"/>
                <a:cs typeface="Calibri" pitchFamily="34" charset="-120"/>
              </a:rPr>
              <a:t>Multer middleware validates and reads the file</a:t>
            </a:r>
            <a:endParaRPr lang="en-US" sz="1450" dirty="0"/>
          </a:p>
          <a:p>
            <a:pPr marL="228600" indent="-228600">
              <a:spcAft>
                <a:spcPts val="1800"/>
              </a:spcAft>
              <a:buSzPct val="100000"/>
              <a:buChar char="●"/>
            </a:pPr>
            <a:r>
              <a:rPr lang="en-US" sz="1450" dirty="0">
                <a:solidFill>
                  <a:srgbClr val="33384A"/>
                </a:solidFill>
                <a:latin typeface="Calibri" pitchFamily="34" charset="0"/>
                <a:ea typeface="Calibri" pitchFamily="34" charset="-122"/>
                <a:cs typeface="Calibri" pitchFamily="34" charset="-120"/>
              </a:rPr>
              <a:t>Its title and text content are saved to MongoDB</a:t>
            </a:r>
            <a:endParaRPr lang="en-US" sz="1450" dirty="0"/>
          </a:p>
          <a:p>
            <a:pPr marL="228600" indent="-228600">
              <a:spcAft>
                <a:spcPts val="1800"/>
              </a:spcAft>
              <a:buSzPct val="100000"/>
              <a:buChar char="●"/>
            </a:pPr>
            <a:r>
              <a:rPr lang="en-US" sz="1450" dirty="0">
                <a:solidFill>
                  <a:srgbClr val="33384A"/>
                </a:solidFill>
                <a:latin typeface="Calibri" pitchFamily="34" charset="0"/>
                <a:ea typeface="Calibri" pitchFamily="34" charset="-122"/>
                <a:cs typeface="Calibri" pitchFamily="34" charset="-120"/>
              </a:rPr>
              <a:t>This saved record becomes the input for every AI feature</a:t>
            </a:r>
            <a:endParaRPr lang="en-US" sz="1450" dirty="0"/>
          </a:p>
        </p:txBody>
      </p:sp>
      <p:pic>
        <p:nvPicPr>
          <p:cNvPr id="6" name="Image 0" descr="12210.jpg">    </p:cNvPr>
          <p:cNvPicPr>
            <a:picLocks noChangeAspect="1"/>
          </p:cNvPicPr>
          <p:nvPr/>
        </p:nvPicPr>
        <p:blipFill>
          <a:blip r:embed="rId1"/>
          <a:stretch>
            <a:fillRect/>
          </a:stretch>
        </p:blipFill>
        <p:spPr>
          <a:xfrm>
            <a:off x="4937760" y="1463040"/>
            <a:ext cx="6583680" cy="3009682"/>
          </a:xfrm>
          <a:prstGeom prst="rect">
            <a:avLst/>
          </a:prstGeom>
          <a:effectLst>
            <a:outerShdw sx="100000" sy="100000" kx="0" ky="0" algn="bl" rotWithShape="0" blurRad="127000" dist="38100" dir="5400000">
              <a:srgbClr val="1E2761">
                <a:alpha val="28000"/>
              </a:srgbClr>
            </a:outerShdw>
          </a:effectLst>
        </p:spPr>
      </p:pic>
      <p:sp>
        <p:nvSpPr>
          <p:cNvPr id="7" name="Text 4"/>
          <p:cNvSpPr txBox="1"/>
          <p:nvPr/>
        </p:nvSpPr>
        <p:spPr>
          <a:xfrm>
            <a:off x="4937760" y="4582450"/>
            <a:ext cx="6583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Uploaded material stored with its full content</a:t>
            </a:r>
            <a:endParaRPr lang="en-US" sz="1250" dirty="0"/>
          </a:p>
        </p:txBody>
      </p:sp>
      <p:sp>
        <p:nvSpPr>
          <p:cNvPr id="8" name="Shape 5"/>
          <p:cNvSpPr/>
          <p:nvPr/>
        </p:nvSpPr>
        <p:spPr>
          <a:xfrm>
            <a:off x="10104120" y="4564162"/>
            <a:ext cx="946404" cy="292608"/>
          </a:xfrm>
          <a:prstGeom prst="roundRect">
            <a:avLst>
              <a:gd name="adj" fmla="val 50000"/>
            </a:avLst>
          </a:prstGeom>
          <a:solidFill>
            <a:srgbClr val="E4F6F1"/>
          </a:solidFill>
          <a:ln w="12700">
            <a:solidFill>
              <a:srgbClr val="1FAE8C"/>
            </a:solidFill>
            <a:prstDash val="solid"/>
          </a:ln>
        </p:spPr>
      </p:sp>
      <p:sp>
        <p:nvSpPr>
          <p:cNvPr id="9" name="Text 6"/>
          <p:cNvSpPr txBox="1"/>
          <p:nvPr/>
        </p:nvSpPr>
        <p:spPr>
          <a:xfrm>
            <a:off x="10104120" y="4564162"/>
            <a:ext cx="946404" cy="292608"/>
          </a:xfrm>
          <a:prstGeom prst="rect">
            <a:avLst/>
          </a:prstGeom>
          <a:noFill/>
          <a:ln/>
        </p:spPr>
        <p:txBody>
          <a:bodyPr wrap="square" lIns="0" tIns="0" rIns="0" bIns="0" rtlCol="0" anchor="ctr"/>
          <a:lstStyle/>
          <a:p>
            <a:pPr algn="ctr" indent="0" marL="0">
              <a:buNone/>
            </a:pPr>
            <a:r>
              <a:rPr lang="en-US" sz="1050" b="1" dirty="0">
                <a:solidFill>
                  <a:srgbClr val="0C7A5E"/>
                </a:solidFill>
                <a:latin typeface="Calibri" pitchFamily="34" charset="0"/>
                <a:ea typeface="Calibri" pitchFamily="34" charset="-122"/>
                <a:cs typeface="Calibri" pitchFamily="34" charset="-120"/>
              </a:rPr>
              <a:t>201 Created</a:t>
            </a:r>
            <a:endParaRPr lang="en-US" sz="1050" dirty="0"/>
          </a:p>
        </p:txBody>
      </p:sp>
      <p:sp>
        <p:nvSpPr>
          <p:cNvPr id="10" name="Text 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AI Testing — Summary &amp; Flashcards</a:t>
            </a:r>
            <a:endParaRPr lang="en-US" sz="3000" dirty="0"/>
          </a:p>
        </p:txBody>
      </p:sp>
      <p:pic>
        <p:nvPicPr>
          <p:cNvPr id="4" name="Image 0" descr="12213.jpg">    </p:cNvPr>
          <p:cNvPicPr>
            <a:picLocks noChangeAspect="1"/>
          </p:cNvPicPr>
          <p:nvPr/>
        </p:nvPicPr>
        <p:blipFill>
          <a:blip r:embed="rId1"/>
          <a:stretch>
            <a:fillRect/>
          </a:stretch>
        </p:blipFill>
        <p:spPr>
          <a:xfrm>
            <a:off x="457200" y="1417320"/>
            <a:ext cx="5440680" cy="2487168"/>
          </a:xfrm>
          <a:prstGeom prst="rect">
            <a:avLst/>
          </a:prstGeom>
          <a:effectLst>
            <a:outerShdw sx="100000" sy="100000" kx="0" ky="0" algn="bl" rotWithShape="0" blurRad="127000" dist="38100" dir="5400000">
              <a:srgbClr val="1E2761">
                <a:alpha val="28000"/>
              </a:srgbClr>
            </a:outerShdw>
          </a:effectLst>
        </p:spPr>
      </p:pic>
      <p:pic>
        <p:nvPicPr>
          <p:cNvPr id="5" name="Image 1" descr="12211.jpg">    </p:cNvPr>
          <p:cNvPicPr>
            <a:picLocks noChangeAspect="1"/>
          </p:cNvPicPr>
          <p:nvPr/>
        </p:nvPicPr>
        <p:blipFill>
          <a:blip r:embed="rId2"/>
          <a:stretch>
            <a:fillRect/>
          </a:stretch>
        </p:blipFill>
        <p:spPr>
          <a:xfrm>
            <a:off x="6263640" y="1417320"/>
            <a:ext cx="5440680" cy="2487168"/>
          </a:xfrm>
          <a:prstGeom prst="rect">
            <a:avLst/>
          </a:prstGeom>
          <a:effectLst>
            <a:outerShdw sx="100000" sy="100000" kx="0" ky="0" algn="bl" rotWithShape="0" blurRad="127000" dist="38100" dir="5400000">
              <a:srgbClr val="1E2761">
                <a:alpha val="28000"/>
              </a:srgbClr>
            </a:outerShdw>
          </a:effectLst>
        </p:spPr>
      </p:pic>
      <p:sp>
        <p:nvSpPr>
          <p:cNvPr id="6" name="Text 2"/>
          <p:cNvSpPr txBox="1"/>
          <p:nvPr/>
        </p:nvSpPr>
        <p:spPr>
          <a:xfrm>
            <a:off x="457200" y="4014216"/>
            <a:ext cx="5440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POST /materials/:id/summarize</a:t>
            </a:r>
            <a:endParaRPr lang="en-US" sz="1250" dirty="0"/>
          </a:p>
        </p:txBody>
      </p:sp>
      <p:sp>
        <p:nvSpPr>
          <p:cNvPr id="7" name="Text 3"/>
          <p:cNvSpPr txBox="1"/>
          <p:nvPr/>
        </p:nvSpPr>
        <p:spPr>
          <a:xfrm>
            <a:off x="6263640" y="4014216"/>
            <a:ext cx="5440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POST /materials/:id/flashcards</a:t>
            </a:r>
            <a:endParaRPr lang="en-US" sz="1250" dirty="0"/>
          </a:p>
        </p:txBody>
      </p:sp>
      <p:sp>
        <p:nvSpPr>
          <p:cNvPr id="8" name="Text 4"/>
          <p:cNvSpPr txBox="1"/>
          <p:nvPr/>
        </p:nvSpPr>
        <p:spPr>
          <a:xfrm>
            <a:off x="457200" y="4617720"/>
            <a:ext cx="11247120" cy="1371600"/>
          </a:xfrm>
          <a:prstGeom prst="rect">
            <a:avLst/>
          </a:prstGeom>
          <a:noFill/>
          <a:ln/>
        </p:spPr>
        <p:txBody>
          <a:bodyPr wrap="square" lIns="0" tIns="0" rIns="0" bIns="0" rtlCol="0" anchor="ctr"/>
          <a:lstStyle/>
          <a:p>
            <a:pPr indent="0" marL="0">
              <a:lnSpc>
                <a:spcPct val="118000"/>
              </a:lnSpc>
              <a:buNone/>
            </a:pPr>
            <a:r>
              <a:rPr lang="en-US" sz="1350" dirty="0">
                <a:solidFill>
                  <a:srgbClr val="33384A"/>
                </a:solidFill>
                <a:latin typeface="Calibri" pitchFamily="34" charset="0"/>
                <a:ea typeface="Calibri" pitchFamily="34" charset="-122"/>
                <a:cs typeface="Calibri" pitchFamily="34" charset="-120"/>
              </a:rPr>
              <a:t>The stored material is sent to Google Gemini, which returns a clearly structured summary covering definitions and key subfields. The same content also drives flashcard generation, producing question-and-answer pairs students can use for quick, active-recall revision.</a:t>
            </a:r>
            <a:endParaRPr lang="en-US" sz="1350" dirty="0"/>
          </a:p>
        </p:txBody>
      </p:sp>
      <p:sp>
        <p:nvSpPr>
          <p:cNvPr id="9" name="Text 5"/>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
            <a:ext cx="292608" cy="292608"/>
          </a:xfrm>
          <a:prstGeom prst="ellipse">
            <a:avLst/>
          </a:prstGeom>
          <a:solidFill>
            <a:srgbClr val="1E2761"/>
          </a:solidFill>
          <a:ln w="12700">
            <a:solidFill>
              <a:srgbClr val="1E2761"/>
            </a:solidFill>
            <a:prstDash val="solid"/>
          </a:ln>
        </p:spPr>
      </p:sp>
      <p:sp>
        <p:nvSpPr>
          <p:cNvPr id="3" name="Text 1"/>
          <p:cNvSpPr txBox="1"/>
          <p:nvPr/>
        </p:nvSpPr>
        <p:spPr>
          <a:xfrm>
            <a:off x="914400" y="347472"/>
            <a:ext cx="1078992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AI Testing — Quiz &amp; Study Plan</a:t>
            </a:r>
            <a:endParaRPr lang="en-US" sz="3000" dirty="0"/>
          </a:p>
        </p:txBody>
      </p:sp>
      <p:pic>
        <p:nvPicPr>
          <p:cNvPr id="4" name="Image 0" descr="12212.jpg">    </p:cNvPr>
          <p:cNvPicPr>
            <a:picLocks noChangeAspect="1"/>
          </p:cNvPicPr>
          <p:nvPr/>
        </p:nvPicPr>
        <p:blipFill>
          <a:blip r:embed="rId1"/>
          <a:stretch>
            <a:fillRect/>
          </a:stretch>
        </p:blipFill>
        <p:spPr>
          <a:xfrm>
            <a:off x="457200" y="1417320"/>
            <a:ext cx="5440680" cy="2487168"/>
          </a:xfrm>
          <a:prstGeom prst="rect">
            <a:avLst/>
          </a:prstGeom>
          <a:effectLst>
            <a:outerShdw sx="100000" sy="100000" kx="0" ky="0" algn="bl" rotWithShape="0" blurRad="127000" dist="38100" dir="5400000">
              <a:srgbClr val="1E2761">
                <a:alpha val="28000"/>
              </a:srgbClr>
            </a:outerShdw>
          </a:effectLst>
        </p:spPr>
      </p:pic>
      <p:pic>
        <p:nvPicPr>
          <p:cNvPr id="5" name="Image 1" descr="12214.jpg">    </p:cNvPr>
          <p:cNvPicPr>
            <a:picLocks noChangeAspect="1"/>
          </p:cNvPicPr>
          <p:nvPr/>
        </p:nvPicPr>
        <p:blipFill>
          <a:blip r:embed="rId2"/>
          <a:stretch>
            <a:fillRect/>
          </a:stretch>
        </p:blipFill>
        <p:spPr>
          <a:xfrm>
            <a:off x="6263640" y="1417320"/>
            <a:ext cx="5440680" cy="2487168"/>
          </a:xfrm>
          <a:prstGeom prst="rect">
            <a:avLst/>
          </a:prstGeom>
          <a:effectLst>
            <a:outerShdw sx="100000" sy="100000" kx="0" ky="0" algn="bl" rotWithShape="0" blurRad="127000" dist="38100" dir="5400000">
              <a:srgbClr val="1E2761">
                <a:alpha val="28000"/>
              </a:srgbClr>
            </a:outerShdw>
          </a:effectLst>
        </p:spPr>
      </p:pic>
      <p:sp>
        <p:nvSpPr>
          <p:cNvPr id="6" name="Text 2"/>
          <p:cNvSpPr txBox="1"/>
          <p:nvPr/>
        </p:nvSpPr>
        <p:spPr>
          <a:xfrm>
            <a:off x="457200" y="4014216"/>
            <a:ext cx="5440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POST /materials/:id/quiz</a:t>
            </a:r>
            <a:endParaRPr lang="en-US" sz="1250" dirty="0"/>
          </a:p>
        </p:txBody>
      </p:sp>
      <p:sp>
        <p:nvSpPr>
          <p:cNvPr id="7" name="Text 3"/>
          <p:cNvSpPr txBox="1"/>
          <p:nvPr/>
        </p:nvSpPr>
        <p:spPr>
          <a:xfrm>
            <a:off x="6263640" y="4014216"/>
            <a:ext cx="5440680" cy="29260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POST /materials/:id/study-plan</a:t>
            </a:r>
            <a:endParaRPr lang="en-US" sz="1250" dirty="0"/>
          </a:p>
        </p:txBody>
      </p:sp>
      <p:sp>
        <p:nvSpPr>
          <p:cNvPr id="8" name="Text 4"/>
          <p:cNvSpPr txBox="1"/>
          <p:nvPr/>
        </p:nvSpPr>
        <p:spPr>
          <a:xfrm>
            <a:off x="457200" y="4617720"/>
            <a:ext cx="11247120" cy="1371600"/>
          </a:xfrm>
          <a:prstGeom prst="rect">
            <a:avLst/>
          </a:prstGeom>
          <a:noFill/>
          <a:ln/>
        </p:spPr>
        <p:txBody>
          <a:bodyPr wrap="square" lIns="0" tIns="0" rIns="0" bIns="0" rtlCol="0" anchor="ctr"/>
          <a:lstStyle/>
          <a:p>
            <a:pPr indent="0" marL="0">
              <a:lnSpc>
                <a:spcPct val="118000"/>
              </a:lnSpc>
              <a:buNone/>
            </a:pPr>
            <a:r>
              <a:rPr lang="en-US" sz="1350" dirty="0">
                <a:solidFill>
                  <a:srgbClr val="33384A"/>
                </a:solidFill>
                <a:latin typeface="Calibri" pitchFamily="34" charset="0"/>
                <a:ea typeface="Calibri" pitchFamily="34" charset="-122"/>
                <a:cs typeface="Calibri" pitchFamily="34" charset="-120"/>
              </a:rPr>
              <a:t>The quiz endpoint returns multiple-choice questions with answers so students can self-assess. The study-plan endpoint takes a goal, hours available per day, and a day count, then asks Gemini to build a realistic, day-by-day revision schedule around the exam date.</a:t>
            </a:r>
            <a:endParaRPr lang="en-US" sz="1350" dirty="0"/>
          </a:p>
        </p:txBody>
      </p:sp>
      <p:sp>
        <p:nvSpPr>
          <p:cNvPr id="9" name="Text 5"/>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1000" dirty="0">
                <a:solidFill>
                  <a:srgbClr val="8A8FA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1645920"/>
            <a:ext cx="4023360" cy="4023360"/>
          </a:xfrm>
          <a:prstGeom prst="ellipse">
            <a:avLst/>
          </a:prstGeom>
          <a:solidFill>
            <a:srgbClr val="263283"/>
          </a:solidFill>
          <a:ln w="12700">
            <a:solidFill>
              <a:srgbClr val="263283"/>
            </a:solidFill>
            <a:prstDash val="solid"/>
          </a:ln>
        </p:spPr>
      </p:sp>
      <p:sp>
        <p:nvSpPr>
          <p:cNvPr id="3" name="Shape 1"/>
          <p:cNvSpPr/>
          <p:nvPr/>
        </p:nvSpPr>
        <p:spPr>
          <a:xfrm>
            <a:off x="10241280" y="4206240"/>
            <a:ext cx="3840480" cy="3840480"/>
          </a:xfrm>
          <a:prstGeom prst="ellipse">
            <a:avLst/>
          </a:prstGeom>
          <a:solidFill>
            <a:srgbClr val="263283"/>
          </a:solidFill>
          <a:ln w="12700">
            <a:solidFill>
              <a:srgbClr val="263283"/>
            </a:solidFill>
            <a:prstDash val="solid"/>
          </a:ln>
        </p:spPr>
      </p:sp>
      <p:sp>
        <p:nvSpPr>
          <p:cNvPr id="4" name="Text 2"/>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Outcome</a:t>
            </a:r>
            <a:endParaRPr lang="en-US" sz="3000" dirty="0"/>
          </a:p>
        </p:txBody>
      </p:sp>
      <p:sp>
        <p:nvSpPr>
          <p:cNvPr id="5" name="Text 3"/>
          <p:cNvSpPr txBox="1"/>
          <p:nvPr/>
        </p:nvSpPr>
        <p:spPr>
          <a:xfrm>
            <a:off x="822960" y="1600200"/>
            <a:ext cx="10332720" cy="1188720"/>
          </a:xfrm>
          <a:prstGeom prst="rect">
            <a:avLst/>
          </a:prstGeom>
          <a:noFill/>
          <a:ln/>
        </p:spPr>
        <p:txBody>
          <a:bodyPr wrap="square" lIns="0" tIns="0" rIns="0" bIns="0" rtlCol="0" anchor="ctr"/>
          <a:lstStyle/>
          <a:p>
            <a:pPr indent="0" marL="0">
              <a:lnSpc>
                <a:spcPct val="125000"/>
              </a:lnSpc>
              <a:buNone/>
            </a:pPr>
            <a:r>
              <a:rPr lang="en-US" sz="1600" dirty="0">
                <a:solidFill>
                  <a:srgbClr val="CADCFC"/>
                </a:solidFill>
                <a:latin typeface="Calibri" pitchFamily="34" charset="0"/>
                <a:ea typeface="Calibri" pitchFamily="34" charset="-122"/>
                <a:cs typeface="Calibri" pitchFamily="34" charset="-120"/>
              </a:rPr>
              <a:t>By combining a secure backend with the Google Gemini API, AI StudyBuddy turns scattered study material into summaries, flashcards, quizzes and personalized study plans in seconds — cutting down manual prep time so students can spend more time actually understanding the material.</a:t>
            </a:r>
            <a:endParaRPr lang="en-US" sz="1600" dirty="0"/>
          </a:p>
        </p:txBody>
      </p:sp>
      <p:sp>
        <p:nvSpPr>
          <p:cNvPr id="6" name="Shape 4"/>
          <p:cNvSpPr/>
          <p:nvPr/>
        </p:nvSpPr>
        <p:spPr>
          <a:xfrm>
            <a:off x="868680" y="3063240"/>
            <a:ext cx="1188720" cy="41148"/>
          </a:xfrm>
          <a:prstGeom prst="rect">
            <a:avLst/>
          </a:prstGeom>
          <a:solidFill>
            <a:srgbClr val="1FAE8C"/>
          </a:solidFill>
          <a:ln w="12700">
            <a:solidFill>
              <a:srgbClr val="1FAE8C"/>
            </a:solidFill>
            <a:prstDash val="solid"/>
          </a:ln>
        </p:spPr>
      </p:sp>
      <p:sp>
        <p:nvSpPr>
          <p:cNvPr id="7" name="Text 5"/>
          <p:cNvSpPr txBox="1"/>
          <p:nvPr/>
        </p:nvSpPr>
        <p:spPr>
          <a:xfrm>
            <a:off x="822960" y="3383280"/>
            <a:ext cx="10332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8" name="Text 6"/>
          <p:cNvSpPr txBox="1"/>
          <p:nvPr/>
        </p:nvSpPr>
        <p:spPr>
          <a:xfrm>
            <a:off x="822960" y="4251960"/>
            <a:ext cx="3657600" cy="274320"/>
          </a:xfrm>
          <a:prstGeom prst="rect">
            <a:avLst/>
          </a:prstGeom>
          <a:noFill/>
          <a:ln/>
        </p:spPr>
        <p:txBody>
          <a:bodyPr wrap="square" lIns="0" tIns="0" rIns="0" bIns="0" rtlCol="0" anchor="ctr"/>
          <a:lstStyle/>
          <a:p>
            <a:pPr indent="0" marL="0">
              <a:buNone/>
            </a:pPr>
            <a:r>
              <a:rPr lang="en-US" sz="1100" b="1" spc="100" kern="0" dirty="0">
                <a:solidFill>
                  <a:srgbClr val="1FAE8C"/>
                </a:solidFill>
                <a:latin typeface="Calibri" pitchFamily="34" charset="0"/>
                <a:ea typeface="Calibri" pitchFamily="34" charset="-122"/>
                <a:cs typeface="Calibri" pitchFamily="34" charset="-120"/>
              </a:rPr>
              <a:t>TEAM LEADER</a:t>
            </a:r>
            <a:endParaRPr lang="en-US" sz="1100" dirty="0"/>
          </a:p>
        </p:txBody>
      </p:sp>
      <p:sp>
        <p:nvSpPr>
          <p:cNvPr id="9" name="Text 7"/>
          <p:cNvSpPr txBox="1"/>
          <p:nvPr/>
        </p:nvSpPr>
        <p:spPr>
          <a:xfrm>
            <a:off x="822960" y="4526280"/>
            <a:ext cx="5486400" cy="3657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Kishore T</a:t>
            </a:r>
            <a:endParaRPr lang="en-US" sz="1700" dirty="0"/>
          </a:p>
        </p:txBody>
      </p:sp>
      <p:sp>
        <p:nvSpPr>
          <p:cNvPr id="10" name="Text 8"/>
          <p:cNvSpPr txBox="1"/>
          <p:nvPr/>
        </p:nvSpPr>
        <p:spPr>
          <a:xfrm>
            <a:off x="822960" y="5029200"/>
            <a:ext cx="3657600" cy="274320"/>
          </a:xfrm>
          <a:prstGeom prst="rect">
            <a:avLst/>
          </a:prstGeom>
          <a:noFill/>
          <a:ln/>
        </p:spPr>
        <p:txBody>
          <a:bodyPr wrap="square" lIns="0" tIns="0" rIns="0" bIns="0" rtlCol="0" anchor="ctr"/>
          <a:lstStyle/>
          <a:p>
            <a:pPr indent="0" marL="0">
              <a:buNone/>
            </a:pPr>
            <a:r>
              <a:rPr lang="en-US" sz="1100" b="1" spc="100" kern="0" dirty="0">
                <a:solidFill>
                  <a:srgbClr val="1FAE8C"/>
                </a:solidFill>
                <a:latin typeface="Calibri" pitchFamily="34" charset="0"/>
                <a:ea typeface="Calibri" pitchFamily="34" charset="-122"/>
                <a:cs typeface="Calibri" pitchFamily="34" charset="-120"/>
              </a:rPr>
              <a:t>TEAM MEMBERS</a:t>
            </a:r>
            <a:endParaRPr lang="en-US" sz="1100" dirty="0"/>
          </a:p>
        </p:txBody>
      </p:sp>
      <p:sp>
        <p:nvSpPr>
          <p:cNvPr id="11" name="Text 9"/>
          <p:cNvSpPr txBox="1"/>
          <p:nvPr/>
        </p:nvSpPr>
        <p:spPr>
          <a:xfrm>
            <a:off x="822960" y="5303520"/>
            <a:ext cx="1033272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Logeshwaran D · Manikandan M · Mohamed Safir 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2026-09-26T09:55:57Z</dcterms:created>
  <dcterms:modified xsi:type="dcterms:W3CDTF">2026-09-26T09:55:57Z</dcterms:modified>
</cp:coreProperties>
</file>